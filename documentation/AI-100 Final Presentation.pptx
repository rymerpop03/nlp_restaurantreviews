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15" name="Shape 15"/>
        <p:cNvGrpSpPr/>
        <p:nvPr/>
      </p:nvGrpSpPr>
      <p:grpSpPr>
        <a:xfrm>
          <a:off x="0" y="0"/>
          <a:ext cx="0" cy="0"/>
          <a:chOff x="0" y="0"/>
          <a:chExt cx="0" cy="0"/>
        </a:xfrm>
      </p:grpSpPr>
      <p:sp>
        <p:nvSpPr>
          <p:cNvPr id="16" name="Google Shape;16;p3"/>
          <p:cNvSpPr/>
          <p:nvPr/>
        </p:nvSpPr>
        <p:spPr>
          <a:xfrm>
            <a:off x="0" y="0"/>
            <a:ext cx="201168" cy="5143500"/>
          </a:xfrm>
          <a:prstGeom prst="rect">
            <a:avLst/>
          </a:prstGeom>
          <a:solidFill>
            <a:srgbClr val="00C9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7132320" y="-365760"/>
            <a:ext cx="2377440" cy="2377440"/>
          </a:xfrm>
          <a:prstGeom prst="ellipse">
            <a:avLst/>
          </a:prstGeom>
          <a:solidFill>
            <a:srgbClr val="6C63FF">
              <a:alpha val="20000"/>
            </a:srgbClr>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863840" y="2926080"/>
            <a:ext cx="1645920" cy="1645920"/>
          </a:xfrm>
          <a:prstGeom prst="ellipse">
            <a:avLst/>
          </a:prstGeom>
          <a:solidFill>
            <a:srgbClr val="00C9A7">
              <a:alpha val="20000"/>
            </a:srgbClr>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02920" y="457200"/>
            <a:ext cx="1463040" cy="347472"/>
          </a:xfrm>
          <a:prstGeom prst="roundRect">
            <a:avLst>
              <a:gd fmla="val 13158" name="adj"/>
            </a:avLst>
          </a:prstGeom>
          <a:solidFill>
            <a:srgbClr val="00C9A7">
              <a:alpha val="80000"/>
            </a:srgbClr>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502920" y="457200"/>
            <a:ext cx="1463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AI-100</a:t>
            </a:r>
            <a:endParaRPr b="0" i="0" sz="1100" u="none" cap="none" strike="noStrike">
              <a:solidFill>
                <a:schemeClr val="dk1"/>
              </a:solidFill>
              <a:latin typeface="Calibri"/>
              <a:ea typeface="Calibri"/>
              <a:cs typeface="Calibri"/>
              <a:sym typeface="Calibri"/>
            </a:endParaRPr>
          </a:p>
        </p:txBody>
      </p:sp>
      <p:sp>
        <p:nvSpPr>
          <p:cNvPr id="21" name="Google Shape;21;p3"/>
          <p:cNvSpPr/>
          <p:nvPr/>
        </p:nvSpPr>
        <p:spPr>
          <a:xfrm>
            <a:off x="502920" y="1051560"/>
            <a:ext cx="77724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GenAI Bug Analysis</a:t>
            </a:r>
            <a:endParaRPr b="0" i="0" sz="4400" u="none" cap="none" strike="noStrike">
              <a:solidFill>
                <a:schemeClr val="dk1"/>
              </a:solidFill>
              <a:latin typeface="Calibri"/>
              <a:ea typeface="Calibri"/>
              <a:cs typeface="Calibri"/>
              <a:sym typeface="Calibri"/>
            </a:endParaRPr>
          </a:p>
        </p:txBody>
      </p:sp>
      <p:sp>
        <p:nvSpPr>
          <p:cNvPr id="22" name="Google Shape;22;p3"/>
          <p:cNvSpPr/>
          <p:nvPr/>
        </p:nvSpPr>
        <p:spPr>
          <a:xfrm>
            <a:off x="502920" y="2148840"/>
            <a:ext cx="6858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9A7"/>
              </a:buClr>
              <a:buSzPts val="1800"/>
              <a:buFont typeface="Calibri"/>
              <a:buNone/>
            </a:pPr>
            <a:r>
              <a:rPr b="0" i="0" lang="en-US" sz="1800" u="none" cap="none" strike="noStrike">
                <a:solidFill>
                  <a:srgbClr val="00C9A7"/>
                </a:solidFill>
                <a:latin typeface="Calibri"/>
                <a:ea typeface="Calibri"/>
                <a:cs typeface="Calibri"/>
                <a:sym typeface="Calibri"/>
              </a:rPr>
              <a:t>A Study of Ten Introduced Bugs &amp; AI-Guided Reflection</a:t>
            </a:r>
            <a:endParaRPr b="0" i="0" sz="1800" u="none" cap="none" strike="noStrike">
              <a:solidFill>
                <a:schemeClr val="dk1"/>
              </a:solidFill>
              <a:latin typeface="Calibri"/>
              <a:ea typeface="Calibri"/>
              <a:cs typeface="Calibri"/>
              <a:sym typeface="Calibri"/>
            </a:endParaRPr>
          </a:p>
        </p:txBody>
      </p:sp>
      <p:cxnSp>
        <p:nvCxnSpPr>
          <p:cNvPr id="23" name="Google Shape;23;p3"/>
          <p:cNvCxnSpPr/>
          <p:nvPr/>
        </p:nvCxnSpPr>
        <p:spPr>
          <a:xfrm>
            <a:off x="502920" y="2788920"/>
            <a:ext cx="4572000" cy="0"/>
          </a:xfrm>
          <a:prstGeom prst="straightConnector1">
            <a:avLst/>
          </a:prstGeom>
          <a:noFill/>
          <a:ln cap="flat" cmpd="sng" w="10150">
            <a:solidFill>
              <a:srgbClr val="8888A8"/>
            </a:solidFill>
            <a:prstDash val="solid"/>
            <a:round/>
            <a:headEnd len="sm" w="sm" type="none"/>
            <a:tailEnd len="sm" w="sm" type="none"/>
          </a:ln>
        </p:spPr>
      </p:cxnSp>
      <p:sp>
        <p:nvSpPr>
          <p:cNvPr id="24" name="Google Shape;24;p3"/>
          <p:cNvSpPr/>
          <p:nvPr/>
        </p:nvSpPr>
        <p:spPr>
          <a:xfrm>
            <a:off x="502920" y="2971800"/>
            <a:ext cx="7772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A8"/>
              </a:buClr>
              <a:buSzPts val="1200"/>
              <a:buFont typeface="Calibri"/>
              <a:buNone/>
            </a:pPr>
            <a:r>
              <a:rPr b="0" i="0" lang="en-US" sz="1200" u="none" cap="none" strike="noStrike">
                <a:solidFill>
                  <a:srgbClr val="8888A8"/>
                </a:solidFill>
                <a:latin typeface="Calibri"/>
                <a:ea typeface="Calibri"/>
                <a:cs typeface="Calibri"/>
                <a:sym typeface="Calibri"/>
              </a:rPr>
              <a:t>Course: AI-100  |  Students: Jake Willingham · Rymer Popovich · Noah Sapper</a:t>
            </a:r>
            <a:endParaRPr b="0" i="0" sz="1200" u="none" cap="none" strike="noStrike">
              <a:solidFill>
                <a:schemeClr val="dk1"/>
              </a:solidFill>
              <a:latin typeface="Calibri"/>
              <a:ea typeface="Calibri"/>
              <a:cs typeface="Calibri"/>
              <a:sym typeface="Calibri"/>
            </a:endParaRPr>
          </a:p>
        </p:txBody>
      </p:sp>
      <p:sp>
        <p:nvSpPr>
          <p:cNvPr id="25" name="Google Shape;25;p3"/>
          <p:cNvSpPr/>
          <p:nvPr/>
        </p:nvSpPr>
        <p:spPr>
          <a:xfrm>
            <a:off x="502920" y="333756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5 / 1 /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0" name="Shape 30"/>
        <p:cNvGrpSpPr/>
        <p:nvPr/>
      </p:nvGrpSpPr>
      <p:grpSpPr>
        <a:xfrm>
          <a:off x="0" y="0"/>
          <a:ext cx="0" cy="0"/>
          <a:chOff x="0" y="0"/>
          <a:chExt cx="0" cy="0"/>
        </a:xfrm>
      </p:grpSpPr>
      <p:sp>
        <p:nvSpPr>
          <p:cNvPr id="31" name="Google Shape;31;p4"/>
          <p:cNvSpPr/>
          <p:nvPr/>
        </p:nvSpPr>
        <p:spPr>
          <a:xfrm>
            <a:off x="0" y="0"/>
            <a:ext cx="9144000" cy="777240"/>
          </a:xfrm>
          <a:prstGeom prst="rect">
            <a:avLst/>
          </a:prstGeom>
          <a:solidFill>
            <a:srgbClr val="1A22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Overview</a:t>
            </a:r>
            <a:endParaRPr b="0" i="0" sz="2600" u="none" cap="none" strike="noStrike">
              <a:solidFill>
                <a:schemeClr val="dk1"/>
              </a:solidFill>
              <a:latin typeface="Calibri"/>
              <a:ea typeface="Calibri"/>
              <a:cs typeface="Calibri"/>
              <a:sym typeface="Calibri"/>
            </a:endParaRPr>
          </a:p>
        </p:txBody>
      </p:sp>
      <p:sp>
        <p:nvSpPr>
          <p:cNvPr id="33" name="Google Shape;33;p4"/>
          <p:cNvSpPr/>
          <p:nvPr/>
        </p:nvSpPr>
        <p:spPr>
          <a:xfrm>
            <a:off x="365760" y="96012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247"/>
              </a:buClr>
              <a:buSzPts val="1600"/>
              <a:buFont typeface="Calibri"/>
              <a:buNone/>
            </a:pPr>
            <a:r>
              <a:rPr b="1" i="0" lang="en-US" sz="1600" u="none" cap="none" strike="noStrike">
                <a:solidFill>
                  <a:srgbClr val="1A2247"/>
                </a:solidFill>
                <a:latin typeface="Calibri"/>
                <a:ea typeface="Calibri"/>
                <a:cs typeface="Calibri"/>
                <a:sym typeface="Calibri"/>
              </a:rPr>
              <a:t>About This Presentation</a:t>
            </a:r>
            <a:endParaRPr b="0" i="0" sz="1600" u="none" cap="none" strike="noStrike">
              <a:solidFill>
                <a:schemeClr val="dk1"/>
              </a:solidFill>
              <a:latin typeface="Calibri"/>
              <a:ea typeface="Calibri"/>
              <a:cs typeface="Calibri"/>
              <a:sym typeface="Calibri"/>
            </a:endParaRPr>
          </a:p>
        </p:txBody>
      </p:sp>
      <p:sp>
        <p:nvSpPr>
          <p:cNvPr id="34" name="Google Shape;34;p4"/>
          <p:cNvSpPr/>
          <p:nvPr/>
        </p:nvSpPr>
        <p:spPr>
          <a:xfrm>
            <a:off x="365760" y="1399050"/>
            <a:ext cx="8412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44466"/>
              </a:buClr>
              <a:buSzPts val="1300"/>
              <a:buFont typeface="Calibri"/>
              <a:buNone/>
            </a:pPr>
            <a:r>
              <a:rPr i="1" lang="en-US" sz="1300">
                <a:solidFill>
                  <a:srgbClr val="444466"/>
                </a:solidFill>
                <a:latin typeface="Calibri"/>
                <a:ea typeface="Calibri"/>
                <a:cs typeface="Calibri"/>
                <a:sym typeface="Calibri"/>
              </a:rPr>
              <a:t>We made ten tweaks to the code, all of which created some form of error. We will be discussing the reasons for these </a:t>
            </a:r>
            <a:r>
              <a:rPr i="1" lang="en-US" sz="1300">
                <a:solidFill>
                  <a:srgbClr val="444466"/>
                </a:solidFill>
                <a:latin typeface="Calibri"/>
                <a:ea typeface="Calibri"/>
                <a:cs typeface="Calibri"/>
                <a:sym typeface="Calibri"/>
              </a:rPr>
              <a:t>errors</a:t>
            </a:r>
            <a:endParaRPr b="0" i="0" sz="1300" u="none" cap="none" strike="noStrike">
              <a:solidFill>
                <a:schemeClr val="dk1"/>
              </a:solidFill>
              <a:latin typeface="Calibri"/>
              <a:ea typeface="Calibri"/>
              <a:cs typeface="Calibri"/>
              <a:sym typeface="Calibri"/>
            </a:endParaRPr>
          </a:p>
        </p:txBody>
      </p:sp>
      <p:sp>
        <p:nvSpPr>
          <p:cNvPr id="35" name="Google Shape;35;p4"/>
          <p:cNvSpPr/>
          <p:nvPr/>
        </p:nvSpPr>
        <p:spPr>
          <a:xfrm>
            <a:off x="365760" y="2148840"/>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365760" y="2148840"/>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365760" y="2148840"/>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8" name="Google Shape;38;p4"/>
          <p:cNvSpPr/>
          <p:nvPr/>
        </p:nvSpPr>
        <p:spPr>
          <a:xfrm>
            <a:off x="768096" y="2167128"/>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padding = False</a:t>
            </a:r>
            <a:endParaRPr b="0" i="0" sz="1100" u="none" cap="none" strike="noStrike">
              <a:solidFill>
                <a:schemeClr val="dk1"/>
              </a:solidFill>
              <a:latin typeface="Calibri"/>
              <a:ea typeface="Calibri"/>
              <a:cs typeface="Calibri"/>
              <a:sym typeface="Calibri"/>
            </a:endParaRPr>
          </a:p>
        </p:txBody>
      </p:sp>
      <p:sp>
        <p:nvSpPr>
          <p:cNvPr id="39" name="Google Shape;39;p4"/>
          <p:cNvSpPr/>
          <p:nvPr/>
        </p:nvSpPr>
        <p:spPr>
          <a:xfrm>
            <a:off x="768096" y="2404872"/>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Jake Willingham</a:t>
            </a:r>
            <a:endParaRPr b="0" i="0" sz="900" u="none" cap="none" strike="noStrike">
              <a:solidFill>
                <a:schemeClr val="dk1"/>
              </a:solidFill>
              <a:latin typeface="Calibri"/>
              <a:ea typeface="Calibri"/>
              <a:cs typeface="Calibri"/>
              <a:sym typeface="Calibri"/>
            </a:endParaRPr>
          </a:p>
        </p:txBody>
      </p:sp>
      <p:sp>
        <p:nvSpPr>
          <p:cNvPr id="40" name="Google Shape;40;p4"/>
          <p:cNvSpPr/>
          <p:nvPr/>
        </p:nvSpPr>
        <p:spPr>
          <a:xfrm>
            <a:off x="365760" y="2715768"/>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365760" y="2715768"/>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65760" y="2715768"/>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3" name="Google Shape;43;p4"/>
          <p:cNvSpPr/>
          <p:nvPr/>
        </p:nvSpPr>
        <p:spPr>
          <a:xfrm>
            <a:off x="768096" y="273405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max_length = 4</a:t>
            </a:r>
            <a:endParaRPr b="0" i="0" sz="1100" u="none" cap="none" strike="noStrike">
              <a:solidFill>
                <a:schemeClr val="dk1"/>
              </a:solidFill>
              <a:latin typeface="Calibri"/>
              <a:ea typeface="Calibri"/>
              <a:cs typeface="Calibri"/>
              <a:sym typeface="Calibri"/>
            </a:endParaRPr>
          </a:p>
        </p:txBody>
      </p:sp>
      <p:sp>
        <p:nvSpPr>
          <p:cNvPr id="44" name="Google Shape;44;p4"/>
          <p:cNvSpPr/>
          <p:nvPr/>
        </p:nvSpPr>
        <p:spPr>
          <a:xfrm>
            <a:off x="768096" y="2971800"/>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Jake Willingham</a:t>
            </a:r>
            <a:endParaRPr b="0" i="0" sz="900" u="none" cap="none" strike="noStrike">
              <a:solidFill>
                <a:schemeClr val="dk1"/>
              </a:solidFill>
              <a:latin typeface="Calibri"/>
              <a:ea typeface="Calibri"/>
              <a:cs typeface="Calibri"/>
              <a:sym typeface="Calibri"/>
            </a:endParaRPr>
          </a:p>
        </p:txBody>
      </p:sp>
      <p:sp>
        <p:nvSpPr>
          <p:cNvPr id="45" name="Google Shape;45;p4"/>
          <p:cNvSpPr/>
          <p:nvPr/>
        </p:nvSpPr>
        <p:spPr>
          <a:xfrm>
            <a:off x="365760" y="3282696"/>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365760" y="3282696"/>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365760" y="3282696"/>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8" name="Google Shape;48;p4"/>
          <p:cNvSpPr/>
          <p:nvPr/>
        </p:nvSpPr>
        <p:spPr>
          <a:xfrm>
            <a:off x="768096" y="3300984"/>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num_labels = 1</a:t>
            </a:r>
            <a:endParaRPr b="0" i="0" sz="1100" u="none" cap="none" strike="noStrike">
              <a:solidFill>
                <a:schemeClr val="dk1"/>
              </a:solidFill>
              <a:latin typeface="Calibri"/>
              <a:ea typeface="Calibri"/>
              <a:cs typeface="Calibri"/>
              <a:sym typeface="Calibri"/>
            </a:endParaRPr>
          </a:p>
        </p:txBody>
      </p:sp>
      <p:sp>
        <p:nvSpPr>
          <p:cNvPr id="49" name="Google Shape;49;p4"/>
          <p:cNvSpPr/>
          <p:nvPr/>
        </p:nvSpPr>
        <p:spPr>
          <a:xfrm>
            <a:off x="768096" y="3538728"/>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Jake Willingham</a:t>
            </a:r>
            <a:endParaRPr b="0" i="0" sz="900" u="none" cap="none" strike="noStrike">
              <a:solidFill>
                <a:schemeClr val="dk1"/>
              </a:solidFill>
              <a:latin typeface="Calibri"/>
              <a:ea typeface="Calibri"/>
              <a:cs typeface="Calibri"/>
              <a:sym typeface="Calibri"/>
            </a:endParaRPr>
          </a:p>
        </p:txBody>
      </p:sp>
      <p:sp>
        <p:nvSpPr>
          <p:cNvPr id="50" name="Google Shape;50;p4"/>
          <p:cNvSpPr/>
          <p:nvPr/>
        </p:nvSpPr>
        <p:spPr>
          <a:xfrm>
            <a:off x="365760" y="3849624"/>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65760" y="3849624"/>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365760" y="3849624"/>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53" name="Google Shape;53;p4"/>
          <p:cNvSpPr/>
          <p:nvPr/>
        </p:nvSpPr>
        <p:spPr>
          <a:xfrm>
            <a:off x="768096" y="386791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Removed optimizer.zero_grad()</a:t>
            </a:r>
            <a:endParaRPr b="0" i="0" sz="1100" u="none" cap="none" strike="noStrike">
              <a:solidFill>
                <a:schemeClr val="dk1"/>
              </a:solidFill>
              <a:latin typeface="Calibri"/>
              <a:ea typeface="Calibri"/>
              <a:cs typeface="Calibri"/>
              <a:sym typeface="Calibri"/>
            </a:endParaRPr>
          </a:p>
        </p:txBody>
      </p:sp>
      <p:sp>
        <p:nvSpPr>
          <p:cNvPr id="54" name="Google Shape;54;p4"/>
          <p:cNvSpPr/>
          <p:nvPr/>
        </p:nvSpPr>
        <p:spPr>
          <a:xfrm>
            <a:off x="768096" y="4105656"/>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Jake Willingham</a:t>
            </a:r>
            <a:endParaRPr b="0" i="0" sz="900" u="none" cap="none" strike="noStrike">
              <a:solidFill>
                <a:schemeClr val="dk1"/>
              </a:solidFill>
              <a:latin typeface="Calibri"/>
              <a:ea typeface="Calibri"/>
              <a:cs typeface="Calibri"/>
              <a:sym typeface="Calibri"/>
            </a:endParaRPr>
          </a:p>
        </p:txBody>
      </p:sp>
      <p:sp>
        <p:nvSpPr>
          <p:cNvPr id="55" name="Google Shape;55;p4"/>
          <p:cNvSpPr/>
          <p:nvPr/>
        </p:nvSpPr>
        <p:spPr>
          <a:xfrm>
            <a:off x="365760" y="4416552"/>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365760" y="4416552"/>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365760" y="4416552"/>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58" name="Google Shape;58;p4"/>
          <p:cNvSpPr/>
          <p:nvPr/>
        </p:nvSpPr>
        <p:spPr>
          <a:xfrm>
            <a:off x="768096" y="443484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sep=','</a:t>
            </a:r>
            <a:endParaRPr b="0" i="0" sz="1100" u="none" cap="none" strike="noStrike">
              <a:solidFill>
                <a:schemeClr val="dk1"/>
              </a:solidFill>
              <a:latin typeface="Calibri"/>
              <a:ea typeface="Calibri"/>
              <a:cs typeface="Calibri"/>
              <a:sym typeface="Calibri"/>
            </a:endParaRPr>
          </a:p>
        </p:txBody>
      </p:sp>
      <p:sp>
        <p:nvSpPr>
          <p:cNvPr id="59" name="Google Shape;59;p4"/>
          <p:cNvSpPr/>
          <p:nvPr/>
        </p:nvSpPr>
        <p:spPr>
          <a:xfrm>
            <a:off x="768096" y="4672584"/>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Rymer Popovich</a:t>
            </a:r>
            <a:endParaRPr b="0" i="0" sz="900" u="none" cap="none" strike="noStrike">
              <a:solidFill>
                <a:schemeClr val="dk1"/>
              </a:solidFill>
              <a:latin typeface="Calibri"/>
              <a:ea typeface="Calibri"/>
              <a:cs typeface="Calibri"/>
              <a:sym typeface="Calibri"/>
            </a:endParaRPr>
          </a:p>
        </p:txBody>
      </p:sp>
      <p:sp>
        <p:nvSpPr>
          <p:cNvPr id="60" name="Google Shape;60;p4"/>
          <p:cNvSpPr/>
          <p:nvPr/>
        </p:nvSpPr>
        <p:spPr>
          <a:xfrm>
            <a:off x="4754880" y="2148840"/>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754880" y="2148840"/>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4754880" y="2148840"/>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63" name="Google Shape;63;p4"/>
          <p:cNvSpPr/>
          <p:nvPr/>
        </p:nvSpPr>
        <p:spPr>
          <a:xfrm>
            <a:off x="5157216" y="2167128"/>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dim=0</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5157216" y="2404872"/>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Rymer Popovich</a:t>
            </a:r>
            <a:endParaRPr b="0" i="0" sz="900" u="none" cap="none" strike="noStrike">
              <a:solidFill>
                <a:schemeClr val="dk1"/>
              </a:solidFill>
              <a:latin typeface="Calibri"/>
              <a:ea typeface="Calibri"/>
              <a:cs typeface="Calibri"/>
              <a:sym typeface="Calibri"/>
            </a:endParaRPr>
          </a:p>
        </p:txBody>
      </p:sp>
      <p:sp>
        <p:nvSpPr>
          <p:cNvPr id="65" name="Google Shape;65;p4"/>
          <p:cNvSpPr/>
          <p:nvPr/>
        </p:nvSpPr>
        <p:spPr>
          <a:xfrm>
            <a:off x="4754880" y="2715768"/>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4754880" y="2715768"/>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4754880" y="2715768"/>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7</a:t>
            </a:r>
            <a:endParaRPr b="0" i="0" sz="1200" u="none" cap="none" strike="noStrike">
              <a:solidFill>
                <a:schemeClr val="dk1"/>
              </a:solidFill>
              <a:latin typeface="Calibri"/>
              <a:ea typeface="Calibri"/>
              <a:cs typeface="Calibri"/>
              <a:sym typeface="Calibri"/>
            </a:endParaRPr>
          </a:p>
        </p:txBody>
      </p:sp>
      <p:sp>
        <p:nvSpPr>
          <p:cNvPr id="68" name="Google Shape;68;p4"/>
          <p:cNvSpPr/>
          <p:nvPr/>
        </p:nvSpPr>
        <p:spPr>
          <a:xfrm>
            <a:off x="5157216" y="273405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metric_names missing F1</a:t>
            </a:r>
            <a:endParaRPr b="0" i="0" sz="1100" u="none" cap="none" strike="noStrike">
              <a:solidFill>
                <a:schemeClr val="dk1"/>
              </a:solidFill>
              <a:latin typeface="Calibri"/>
              <a:ea typeface="Calibri"/>
              <a:cs typeface="Calibri"/>
              <a:sym typeface="Calibri"/>
            </a:endParaRPr>
          </a:p>
        </p:txBody>
      </p:sp>
      <p:sp>
        <p:nvSpPr>
          <p:cNvPr id="69" name="Google Shape;69;p4"/>
          <p:cNvSpPr/>
          <p:nvPr/>
        </p:nvSpPr>
        <p:spPr>
          <a:xfrm>
            <a:off x="5157216" y="2971800"/>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Rymer Popovich</a:t>
            </a:r>
            <a:endParaRPr b="0" i="0" sz="900" u="none" cap="none" strike="noStrike">
              <a:solidFill>
                <a:schemeClr val="dk1"/>
              </a:solidFill>
              <a:latin typeface="Calibri"/>
              <a:ea typeface="Calibri"/>
              <a:cs typeface="Calibri"/>
              <a:sym typeface="Calibri"/>
            </a:endParaRPr>
          </a:p>
        </p:txBody>
      </p:sp>
      <p:sp>
        <p:nvSpPr>
          <p:cNvPr id="70" name="Google Shape;70;p4"/>
          <p:cNvSpPr/>
          <p:nvPr/>
        </p:nvSpPr>
        <p:spPr>
          <a:xfrm>
            <a:off x="4754880" y="3282696"/>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4754880" y="3282696"/>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4754880" y="3282696"/>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8</a:t>
            </a:r>
            <a:endParaRPr b="0" i="0" sz="1200" u="none" cap="none" strike="noStrike">
              <a:solidFill>
                <a:schemeClr val="dk1"/>
              </a:solidFill>
              <a:latin typeface="Calibri"/>
              <a:ea typeface="Calibri"/>
              <a:cs typeface="Calibri"/>
              <a:sym typeface="Calibri"/>
            </a:endParaRPr>
          </a:p>
        </p:txBody>
      </p:sp>
      <p:sp>
        <p:nvSpPr>
          <p:cNvPr id="73" name="Google Shape;73;p4"/>
          <p:cNvSpPr/>
          <p:nvPr/>
        </p:nvSpPr>
        <p:spPr>
          <a:xfrm>
            <a:off x="5157216" y="3300984"/>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lr=5</a:t>
            </a:r>
            <a:endParaRPr b="0" i="0" sz="1100" u="none" cap="none" strike="noStrike">
              <a:solidFill>
                <a:schemeClr val="dk1"/>
              </a:solidFill>
              <a:latin typeface="Calibri"/>
              <a:ea typeface="Calibri"/>
              <a:cs typeface="Calibri"/>
              <a:sym typeface="Calibri"/>
            </a:endParaRPr>
          </a:p>
        </p:txBody>
      </p:sp>
      <p:sp>
        <p:nvSpPr>
          <p:cNvPr id="74" name="Google Shape;74;p4"/>
          <p:cNvSpPr/>
          <p:nvPr/>
        </p:nvSpPr>
        <p:spPr>
          <a:xfrm>
            <a:off x="5157216" y="3538728"/>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Noah</a:t>
            </a:r>
            <a:endParaRPr b="0" i="0" sz="900" u="none" cap="none" strike="noStrike">
              <a:solidFill>
                <a:schemeClr val="dk1"/>
              </a:solidFill>
              <a:latin typeface="Calibri"/>
              <a:ea typeface="Calibri"/>
              <a:cs typeface="Calibri"/>
              <a:sym typeface="Calibri"/>
            </a:endParaRPr>
          </a:p>
        </p:txBody>
      </p:sp>
      <p:sp>
        <p:nvSpPr>
          <p:cNvPr id="75" name="Google Shape;75;p4"/>
          <p:cNvSpPr/>
          <p:nvPr/>
        </p:nvSpPr>
        <p:spPr>
          <a:xfrm>
            <a:off x="4754880" y="3849624"/>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4754880" y="3849624"/>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4754880" y="3849624"/>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9</a:t>
            </a:r>
            <a:endParaRPr b="0" i="0" sz="1200" u="none" cap="none" strike="noStrike">
              <a:solidFill>
                <a:schemeClr val="dk1"/>
              </a:solidFill>
              <a:latin typeface="Calibri"/>
              <a:ea typeface="Calibri"/>
              <a:cs typeface="Calibri"/>
              <a:sym typeface="Calibri"/>
            </a:endParaRPr>
          </a:p>
        </p:txBody>
      </p:sp>
      <p:sp>
        <p:nvSpPr>
          <p:cNvPr id="78" name="Google Shape;78;p4"/>
          <p:cNvSpPr/>
          <p:nvPr/>
        </p:nvSpPr>
        <p:spPr>
          <a:xfrm>
            <a:off x="5157216" y="386791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random_state=0 (both splits)</a:t>
            </a:r>
            <a:endParaRPr b="0" i="0" sz="1100" u="none" cap="none" strike="noStrike">
              <a:solidFill>
                <a:schemeClr val="dk1"/>
              </a:solidFill>
              <a:latin typeface="Calibri"/>
              <a:ea typeface="Calibri"/>
              <a:cs typeface="Calibri"/>
              <a:sym typeface="Calibri"/>
            </a:endParaRPr>
          </a:p>
        </p:txBody>
      </p:sp>
      <p:sp>
        <p:nvSpPr>
          <p:cNvPr id="79" name="Google Shape;79;p4"/>
          <p:cNvSpPr/>
          <p:nvPr/>
        </p:nvSpPr>
        <p:spPr>
          <a:xfrm>
            <a:off x="5157216" y="4105656"/>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Noah</a:t>
            </a:r>
            <a:endParaRPr b="0" i="0" sz="900" u="none" cap="none" strike="noStrike">
              <a:solidFill>
                <a:schemeClr val="dk1"/>
              </a:solidFill>
              <a:latin typeface="Calibri"/>
              <a:ea typeface="Calibri"/>
              <a:cs typeface="Calibri"/>
              <a:sym typeface="Calibri"/>
            </a:endParaRPr>
          </a:p>
        </p:txBody>
      </p:sp>
      <p:sp>
        <p:nvSpPr>
          <p:cNvPr id="80" name="Google Shape;80;p4"/>
          <p:cNvSpPr/>
          <p:nvPr/>
        </p:nvSpPr>
        <p:spPr>
          <a:xfrm>
            <a:off x="4754880" y="4416552"/>
            <a:ext cx="4160520" cy="475488"/>
          </a:xfrm>
          <a:prstGeom prst="rect">
            <a:avLst/>
          </a:prstGeom>
          <a:solidFill>
            <a:srgbClr val="FFFFFF"/>
          </a:solidFill>
          <a:ln cap="flat" cmpd="sng" w="9525">
            <a:solidFill>
              <a:srgbClr val="E0E0EE"/>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4754880" y="4416552"/>
            <a:ext cx="347472" cy="475488"/>
          </a:xfrm>
          <a:prstGeom prst="rect">
            <a:avLst/>
          </a:prstGeom>
          <a:solidFill>
            <a:srgbClr val="1A2247"/>
          </a:solidFill>
          <a:ln cap="flat" cmpd="sng" w="12700">
            <a:solidFill>
              <a:srgbClr val="1A2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4754880" y="4416552"/>
            <a:ext cx="34747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10</a:t>
            </a:r>
            <a:endParaRPr b="0" i="0" sz="1200" u="none" cap="none" strike="noStrike">
              <a:solidFill>
                <a:schemeClr val="dk1"/>
              </a:solidFill>
              <a:latin typeface="Calibri"/>
              <a:ea typeface="Calibri"/>
              <a:cs typeface="Calibri"/>
              <a:sym typeface="Calibri"/>
            </a:endParaRPr>
          </a:p>
        </p:txBody>
      </p:sp>
      <p:sp>
        <p:nvSpPr>
          <p:cNvPr id="83" name="Google Shape;83;p4"/>
          <p:cNvSpPr/>
          <p:nvPr/>
        </p:nvSpPr>
        <p:spPr>
          <a:xfrm>
            <a:off x="5157216" y="443484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247"/>
              </a:buClr>
              <a:buSzPts val="1100"/>
              <a:buFont typeface="Consolas"/>
              <a:buNone/>
            </a:pPr>
            <a:r>
              <a:rPr b="1" i="0" lang="en-US" sz="1100" u="none" cap="none" strike="noStrike">
                <a:solidFill>
                  <a:srgbClr val="1A2247"/>
                </a:solidFill>
                <a:latin typeface="Consolas"/>
                <a:ea typeface="Consolas"/>
                <a:cs typeface="Consolas"/>
                <a:sym typeface="Consolas"/>
              </a:rPr>
              <a:t>append() instead of extend()</a:t>
            </a:r>
            <a:endParaRPr b="0" i="0" sz="1100" u="none" cap="none" strike="noStrike">
              <a:solidFill>
                <a:schemeClr val="dk1"/>
              </a:solidFill>
              <a:latin typeface="Calibri"/>
              <a:ea typeface="Calibri"/>
              <a:cs typeface="Calibri"/>
              <a:sym typeface="Calibri"/>
            </a:endParaRPr>
          </a:p>
        </p:txBody>
      </p:sp>
      <p:sp>
        <p:nvSpPr>
          <p:cNvPr id="84" name="Google Shape;84;p4"/>
          <p:cNvSpPr/>
          <p:nvPr/>
        </p:nvSpPr>
        <p:spPr>
          <a:xfrm>
            <a:off x="5157216" y="4672584"/>
            <a:ext cx="26517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900"/>
              <a:buFont typeface="Calibri"/>
              <a:buNone/>
            </a:pPr>
            <a:r>
              <a:rPr b="0" i="1" lang="en-US" sz="900" u="none" cap="none" strike="noStrike">
                <a:solidFill>
                  <a:srgbClr val="8888A8"/>
                </a:solidFill>
                <a:latin typeface="Calibri"/>
                <a:ea typeface="Calibri"/>
                <a:cs typeface="Calibri"/>
                <a:sym typeface="Calibri"/>
              </a:rPr>
              <a:t>Noah</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89" name="Shape 89"/>
        <p:cNvGrpSpPr/>
        <p:nvPr/>
      </p:nvGrpSpPr>
      <p:grpSpPr>
        <a:xfrm>
          <a:off x="0" y="0"/>
          <a:ext cx="0" cy="0"/>
          <a:chOff x="0" y="0"/>
          <a:chExt cx="0" cy="0"/>
        </a:xfrm>
      </p:grpSpPr>
      <p:sp>
        <p:nvSpPr>
          <p:cNvPr id="90" name="Google Shape;90;p5"/>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0" y="0"/>
            <a:ext cx="9144000" cy="54864"/>
          </a:xfrm>
          <a:prstGeom prst="rect">
            <a:avLst/>
          </a:prstGeom>
          <a:solidFill>
            <a:srgbClr val="00C9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274320" y="109728"/>
            <a:ext cx="658368" cy="658368"/>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94" name="Google Shape;94;p5"/>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#1: padding = False</a:t>
            </a:r>
            <a:endParaRPr b="0" i="0" sz="2000" u="none" cap="none" strike="noStrike">
              <a:solidFill>
                <a:schemeClr val="dk1"/>
              </a:solidFill>
              <a:latin typeface="Calibri"/>
              <a:ea typeface="Calibri"/>
              <a:cs typeface="Calibri"/>
              <a:sym typeface="Calibri"/>
            </a:endParaRPr>
          </a:p>
        </p:txBody>
      </p:sp>
      <p:sp>
        <p:nvSpPr>
          <p:cNvPr id="95" name="Google Shape;95;p5"/>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Jake Willingham</a:t>
            </a:r>
            <a:endParaRPr b="0" i="0" sz="1100" u="none" cap="none" strike="noStrike">
              <a:solidFill>
                <a:schemeClr val="dk1"/>
              </a:solidFill>
              <a:latin typeface="Calibri"/>
              <a:ea typeface="Calibri"/>
              <a:cs typeface="Calibri"/>
              <a:sym typeface="Calibri"/>
            </a:endParaRPr>
          </a:p>
        </p:txBody>
      </p:sp>
      <p:sp>
        <p:nvSpPr>
          <p:cNvPr id="96" name="Google Shape;96;p5"/>
          <p:cNvSpPr/>
          <p:nvPr/>
        </p:nvSpPr>
        <p:spPr>
          <a:xfrm>
            <a:off x="22860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22860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99" name="Google Shape;99;p5"/>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Value error, the tensor is unable to be created.</a:t>
            </a:r>
            <a:endParaRPr b="0" i="0" sz="1100" u="none" cap="none" strike="noStrike">
              <a:solidFill>
                <a:schemeClr val="dk1"/>
              </a:solidFill>
              <a:latin typeface="Calibri"/>
              <a:ea typeface="Calibri"/>
              <a:cs typeface="Calibri"/>
              <a:sym typeface="Calibri"/>
            </a:endParaRPr>
          </a:p>
        </p:txBody>
      </p:sp>
      <p:sp>
        <p:nvSpPr>
          <p:cNvPr id="100" name="Google Shape;100;p5"/>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103" name="Google Shape;103;p5"/>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From what I understand about padding from convolutional neural networks, the lack of padding would lead to a loss of information from the edges of the image. Translating that to tokenizing, I was not expecting a total failure. From researching how padding works in tokenizers and looking at the error message, it looks like a lack of padding leads to dimensionality issues. I don't think that there are easy ways to get around this, so the best thing to do is keep padding on.</a:t>
            </a:r>
            <a:endParaRPr b="0" i="0" sz="1100" u="none" cap="none" strike="noStrike">
              <a:solidFill>
                <a:schemeClr val="dk1"/>
              </a:solidFill>
              <a:latin typeface="Calibri"/>
              <a:ea typeface="Calibri"/>
              <a:cs typeface="Calibri"/>
              <a:sym typeface="Calibri"/>
            </a:endParaRPr>
          </a:p>
        </p:txBody>
      </p:sp>
      <p:sp>
        <p:nvSpPr>
          <p:cNvPr id="104" name="Google Shape;104;p5"/>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107" name="Google Shape;107;p5"/>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Your instinct to connect this to </a:t>
            </a:r>
            <a:r>
              <a:rPr i="1" lang="en-US" sz="1100">
                <a:solidFill>
                  <a:srgbClr val="8888A8"/>
                </a:solidFill>
                <a:latin typeface="Calibri"/>
                <a:ea typeface="Calibri"/>
                <a:cs typeface="Calibri"/>
                <a:sym typeface="Calibri"/>
              </a:rPr>
              <a:t>CNN's</a:t>
            </a:r>
            <a:r>
              <a:rPr i="1" lang="en-US" sz="1100">
                <a:solidFill>
                  <a:srgbClr val="8888A8"/>
                </a:solidFill>
                <a:latin typeface="Calibri"/>
                <a:ea typeface="Calibri"/>
                <a:cs typeface="Calibri"/>
                <a:sym typeface="Calibri"/>
              </a:rPr>
              <a:t> shows you're trying to build on prior knowledge — that's good thinking! But the analogy is leading you astray here. </a:t>
            </a:r>
            <a:endParaRPr i="1" sz="1100">
              <a:solidFill>
                <a:srgbClr val="8888A8"/>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i="1" sz="1100">
              <a:solidFill>
                <a:srgbClr val="8888A8"/>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Consider this: when you tokenize a batch of sentences, each sentence has a different number of words. After tokenization, what does that mean for the length of each token sequence?</a:t>
            </a:r>
            <a:endParaRPr i="1" sz="1100">
              <a:solidFill>
                <a:srgbClr val="8888A8"/>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i="1" sz="1100">
              <a:solidFill>
                <a:srgbClr val="8888A8"/>
              </a:solidFill>
              <a:latin typeface="Calibri"/>
              <a:ea typeface="Calibri"/>
              <a:cs typeface="Calibri"/>
              <a:sym typeface="Calibri"/>
            </a:endParaRPr>
          </a:p>
          <a:p>
            <a:pPr indent="0" lvl="0" marL="0" marR="0" rtl="0" algn="l">
              <a:spcBef>
                <a:spcPts val="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108" name="Google Shape;108;p5"/>
          <p:cNvSpPr/>
          <p:nvPr/>
        </p:nvSpPr>
        <p:spPr>
          <a:xfrm>
            <a:off x="228600" y="4663440"/>
            <a:ext cx="8686800" cy="320040"/>
          </a:xfrm>
          <a:prstGeom prst="rect">
            <a:avLst/>
          </a:prstGeom>
          <a:solidFill>
            <a:srgbClr val="1E2340"/>
          </a:solidFill>
          <a:ln cap="flat" cmpd="sng" w="1015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365760" y="4663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9A7"/>
              </a:buClr>
              <a:buSzPts val="1000"/>
              <a:buFont typeface="Calibri"/>
              <a:buNone/>
            </a:pPr>
            <a:r>
              <a:rPr b="0" i="1" lang="en-US" sz="1000" u="none" cap="none" strike="noStrike">
                <a:solidFill>
                  <a:srgbClr val="00C9A7"/>
                </a:solidFill>
                <a:latin typeface="Calibri"/>
                <a:ea typeface="Calibri"/>
                <a:cs typeface="Calibri"/>
                <a:sym typeface="Calibri"/>
              </a:rPr>
              <a:t>✏️  New Self-Reflection: </a:t>
            </a:r>
            <a:r>
              <a:rPr i="1" lang="en-US" sz="1000">
                <a:solidFill>
                  <a:srgbClr val="00C9A7"/>
                </a:solidFill>
                <a:latin typeface="Calibri"/>
                <a:ea typeface="Calibri"/>
                <a:cs typeface="Calibri"/>
                <a:sym typeface="Calibri"/>
              </a:rPr>
              <a:t> After tokenization, each sentence will be split into a different number of words, so the token sequences will all have variable lengths.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114" name="Shape 114"/>
        <p:cNvGrpSpPr/>
        <p:nvPr/>
      </p:nvGrpSpPr>
      <p:grpSpPr>
        <a:xfrm>
          <a:off x="0" y="0"/>
          <a:ext cx="0" cy="0"/>
          <a:chOff x="0" y="0"/>
          <a:chExt cx="0" cy="0"/>
        </a:xfrm>
      </p:grpSpPr>
      <p:sp>
        <p:nvSpPr>
          <p:cNvPr id="115" name="Google Shape;115;p6"/>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0" y="0"/>
            <a:ext cx="9144000" cy="54864"/>
          </a:xfrm>
          <a:prstGeom prst="rect">
            <a:avLst/>
          </a:prstGeom>
          <a:solidFill>
            <a:srgbClr val="6C6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274320" y="109728"/>
            <a:ext cx="658368" cy="658368"/>
          </a:xfrm>
          <a:prstGeom prst="ellipse">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119" name="Google Shape;119;p6"/>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#2: max_length = 4</a:t>
            </a:r>
            <a:endParaRPr b="0" i="0" sz="2000" u="none" cap="none" strike="noStrike">
              <a:solidFill>
                <a:schemeClr val="dk1"/>
              </a:solidFill>
              <a:latin typeface="Calibri"/>
              <a:ea typeface="Calibri"/>
              <a:cs typeface="Calibri"/>
              <a:sym typeface="Calibri"/>
            </a:endParaRPr>
          </a:p>
        </p:txBody>
      </p:sp>
      <p:sp>
        <p:nvSpPr>
          <p:cNvPr id="120" name="Google Shape;120;p6"/>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Jake Willingham</a:t>
            </a:r>
            <a:endParaRPr b="0" i="0" sz="1100" u="none" cap="none" strike="noStrike">
              <a:solidFill>
                <a:schemeClr val="dk1"/>
              </a:solidFill>
              <a:latin typeface="Calibri"/>
              <a:ea typeface="Calibri"/>
              <a:cs typeface="Calibri"/>
              <a:sym typeface="Calibri"/>
            </a:endParaRPr>
          </a:p>
        </p:txBody>
      </p:sp>
      <p:sp>
        <p:nvSpPr>
          <p:cNvPr id="121" name="Google Shape;121;p6"/>
          <p:cNvSpPr/>
          <p:nvPr/>
        </p:nvSpPr>
        <p:spPr>
          <a:xfrm>
            <a:off x="22860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22860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124" name="Google Shape;124;p6"/>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Accuracy was lowered </a:t>
            </a:r>
            <a:r>
              <a:rPr i="1" lang="en-US" sz="1100">
                <a:solidFill>
                  <a:srgbClr val="8888A8"/>
                </a:solidFill>
                <a:latin typeface="Calibri"/>
                <a:ea typeface="Calibri"/>
                <a:cs typeface="Calibri"/>
                <a:sym typeface="Calibri"/>
              </a:rPr>
              <a:t>substantially</a:t>
            </a:r>
            <a:r>
              <a:rPr i="1" lang="en-US" sz="1100">
                <a:solidFill>
                  <a:srgbClr val="8888A8"/>
                </a:solidFill>
                <a:latin typeface="Calibri"/>
                <a:ea typeface="Calibri"/>
                <a:cs typeface="Calibri"/>
                <a:sym typeface="Calibri"/>
              </a:rPr>
              <a:t>, but no direct errors arose. </a:t>
            </a:r>
            <a:endParaRPr b="0" i="0" sz="1100" u="none" cap="none" strike="noStrike">
              <a:solidFill>
                <a:schemeClr val="dk1"/>
              </a:solidFill>
              <a:latin typeface="Calibri"/>
              <a:ea typeface="Calibri"/>
              <a:cs typeface="Calibri"/>
              <a:sym typeface="Calibri"/>
            </a:endParaRPr>
          </a:p>
        </p:txBody>
      </p:sp>
      <p:sp>
        <p:nvSpPr>
          <p:cNvPr id="125" name="Google Shape;125;p6"/>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128" name="Google Shape;128;p6"/>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When turning down the max length of the tokenizer to zero, there is a resulting drop in accuracy by a large margin. I think that the max length of 4 means that larger sections will be passed over by the tokenizer, and only the smaller words and phrases will be tokenized. </a:t>
            </a:r>
            <a:endParaRPr b="0" i="0" sz="1100" u="none" cap="none" strike="noStrike">
              <a:solidFill>
                <a:schemeClr val="dk1"/>
              </a:solidFill>
              <a:latin typeface="Calibri"/>
              <a:ea typeface="Calibri"/>
              <a:cs typeface="Calibri"/>
              <a:sym typeface="Calibri"/>
            </a:endParaRPr>
          </a:p>
        </p:txBody>
      </p:sp>
      <p:sp>
        <p:nvSpPr>
          <p:cNvPr id="129" name="Google Shape;129;p6"/>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 the tokenizer processes every review the same way — it always starts from the beginning of the text. What truncation=True does is cut off anything beyond the 4th token, meaning only the very start of each review survives. With max_length=4, and accounting for the mandatory [CLS] and [SEP] tokens that DistilBERT requires, you're left with only 2 actual content tokens per review</a:t>
            </a:r>
            <a:endParaRPr b="0" i="0" sz="1100" u="none" cap="none" strike="noStrike">
              <a:solidFill>
                <a:schemeClr val="dk1"/>
              </a:solidFill>
              <a:latin typeface="Calibri"/>
              <a:ea typeface="Calibri"/>
              <a:cs typeface="Calibri"/>
              <a:sym typeface="Calibri"/>
            </a:endParaRPr>
          </a:p>
        </p:txBody>
      </p:sp>
      <p:sp>
        <p:nvSpPr>
          <p:cNvPr id="133" name="Google Shape;133;p6"/>
          <p:cNvSpPr/>
          <p:nvPr/>
        </p:nvSpPr>
        <p:spPr>
          <a:xfrm>
            <a:off x="228600" y="4663440"/>
            <a:ext cx="8686800" cy="320040"/>
          </a:xfrm>
          <a:prstGeom prst="rect">
            <a:avLst/>
          </a:prstGeom>
          <a:solidFill>
            <a:srgbClr val="1E2340"/>
          </a:solidFill>
          <a:ln cap="flat" cmpd="sng" w="1015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365760" y="4663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63FF"/>
              </a:buClr>
              <a:buSzPts val="1000"/>
              <a:buFont typeface="Calibri"/>
              <a:buNone/>
            </a:pPr>
            <a:r>
              <a:rPr b="0" i="1" lang="en-US" sz="1000" u="none" cap="none" strike="noStrike">
                <a:solidFill>
                  <a:srgbClr val="6C63FF"/>
                </a:solidFill>
                <a:latin typeface="Calibri"/>
                <a:ea typeface="Calibri"/>
                <a:cs typeface="Calibri"/>
                <a:sym typeface="Calibri"/>
              </a:rPr>
              <a:t>✏️  New Self-Reflection: </a:t>
            </a:r>
            <a:r>
              <a:rPr i="1" lang="en-US" sz="1000">
                <a:solidFill>
                  <a:srgbClr val="6C63FF"/>
                </a:solidFill>
                <a:latin typeface="Calibri"/>
                <a:ea typeface="Calibri"/>
                <a:cs typeface="Calibri"/>
                <a:sym typeface="Calibri"/>
              </a:rPr>
              <a:t>Max length means total tokens from each review will be taken. For a longer review, this means only looking at a small part of it.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139" name="Shape 139"/>
        <p:cNvGrpSpPr/>
        <p:nvPr/>
      </p:nvGrpSpPr>
      <p:grpSpPr>
        <a:xfrm>
          <a:off x="0" y="0"/>
          <a:ext cx="0" cy="0"/>
          <a:chOff x="0" y="0"/>
          <a:chExt cx="0" cy="0"/>
        </a:xfrm>
      </p:grpSpPr>
      <p:sp>
        <p:nvSpPr>
          <p:cNvPr id="140" name="Google Shape;140;p7"/>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0" y="0"/>
            <a:ext cx="9144000" cy="54864"/>
          </a:xfrm>
          <a:prstGeom prst="rect">
            <a:avLst/>
          </a:prstGeom>
          <a:solidFill>
            <a:srgbClr val="FF65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274320" y="109728"/>
            <a:ext cx="658368" cy="658368"/>
          </a:xfrm>
          <a:prstGeom prst="ellipse">
            <a:avLst/>
          </a:prstGeom>
          <a:solidFill>
            <a:srgbClr val="FF6584"/>
          </a:solidFill>
          <a:ln cap="flat" cmpd="sng" w="12700">
            <a:solidFill>
              <a:srgbClr val="FF65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144" name="Google Shape;144;p7"/>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#3: num_labels = 1</a:t>
            </a:r>
            <a:endParaRPr b="0" i="0" sz="2000" u="none" cap="none" strike="noStrike">
              <a:solidFill>
                <a:schemeClr val="dk1"/>
              </a:solidFill>
              <a:latin typeface="Calibri"/>
              <a:ea typeface="Calibri"/>
              <a:cs typeface="Calibri"/>
              <a:sym typeface="Calibri"/>
            </a:endParaRPr>
          </a:p>
        </p:txBody>
      </p:sp>
      <p:sp>
        <p:nvSpPr>
          <p:cNvPr id="145" name="Google Shape;145;p7"/>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Jake Willingham</a:t>
            </a:r>
            <a:endParaRPr b="0" i="0" sz="1100" u="none" cap="none" strike="noStrike">
              <a:solidFill>
                <a:schemeClr val="dk1"/>
              </a:solidFill>
              <a:latin typeface="Calibri"/>
              <a:ea typeface="Calibri"/>
              <a:cs typeface="Calibri"/>
              <a:sym typeface="Calibri"/>
            </a:endParaRPr>
          </a:p>
        </p:txBody>
      </p:sp>
      <p:sp>
        <p:nvSpPr>
          <p:cNvPr id="146" name="Google Shape;146;p7"/>
          <p:cNvSpPr/>
          <p:nvPr/>
        </p:nvSpPr>
        <p:spPr>
          <a:xfrm>
            <a:off x="228600" y="1051560"/>
            <a:ext cx="2834640" cy="3520440"/>
          </a:xfrm>
          <a:prstGeom prst="rect">
            <a:avLst/>
          </a:prstGeom>
          <a:solidFill>
            <a:srgbClr val="1E2340"/>
          </a:solidFill>
          <a:ln cap="flat" cmpd="sng" w="15225">
            <a:solidFill>
              <a:srgbClr val="FF6584"/>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228600" y="1051560"/>
            <a:ext cx="2834640" cy="329184"/>
          </a:xfrm>
          <a:prstGeom prst="rect">
            <a:avLst/>
          </a:prstGeom>
          <a:solidFill>
            <a:srgbClr val="FF6584"/>
          </a:solidFill>
          <a:ln cap="flat" cmpd="sng" w="12700">
            <a:solidFill>
              <a:srgbClr val="FF65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149" name="Google Shape;149;p7"/>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With num_labels=1, Hugging Face's Transformers library interprets the task as regression (MSE loss) instead of binary classification (cross-entropy loss).</a:t>
            </a:r>
            <a:endParaRPr i="1" sz="1100">
              <a:solidFill>
                <a:srgbClr val="8888A8"/>
              </a:solidFill>
              <a:latin typeface="Calibri"/>
              <a:ea typeface="Calibri"/>
              <a:cs typeface="Calibri"/>
              <a:sym typeface="Calibri"/>
            </a:endParaRPr>
          </a:p>
        </p:txBody>
      </p:sp>
      <p:sp>
        <p:nvSpPr>
          <p:cNvPr id="150" name="Google Shape;150;p7"/>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153" name="Google Shape;153;p7"/>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I think that changing the num_labels to 1 would simplify the model. Since there are only two outcomes, two labels seem redundant, and I want to check whether using one label would make the label 1 good and the label 0 bad. There was no error, so I assume it has worked.</a:t>
            </a:r>
            <a:endParaRPr b="0" i="0" sz="1100" u="none" cap="none" strike="noStrike">
              <a:solidFill>
                <a:schemeClr val="dk1"/>
              </a:solidFill>
              <a:latin typeface="Calibri"/>
              <a:ea typeface="Calibri"/>
              <a:cs typeface="Calibri"/>
              <a:sym typeface="Calibri"/>
            </a:endParaRPr>
          </a:p>
        </p:txBody>
      </p:sp>
      <p:sp>
        <p:nvSpPr>
          <p:cNvPr id="154" name="Google Shape;154;p7"/>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157" name="Google Shape;157;p7"/>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When num_labels=2, the model outputs two logit scores — one for each class — and the prediction is whichever is higher. When num_labels=1, what does the model output instead? Is that the same kind of decision, or a fundamentally different one? </a:t>
            </a:r>
            <a:endParaRPr b="0" i="0" sz="1100" u="none" cap="none" strike="noStrike">
              <a:solidFill>
                <a:schemeClr val="dk1"/>
              </a:solidFill>
              <a:latin typeface="Calibri"/>
              <a:ea typeface="Calibri"/>
              <a:cs typeface="Calibri"/>
              <a:sym typeface="Calibri"/>
            </a:endParaRPr>
          </a:p>
        </p:txBody>
      </p:sp>
      <p:sp>
        <p:nvSpPr>
          <p:cNvPr id="158" name="Google Shape;158;p7"/>
          <p:cNvSpPr/>
          <p:nvPr/>
        </p:nvSpPr>
        <p:spPr>
          <a:xfrm>
            <a:off x="228600" y="4663440"/>
            <a:ext cx="8686800" cy="320040"/>
          </a:xfrm>
          <a:prstGeom prst="rect">
            <a:avLst/>
          </a:prstGeom>
          <a:solidFill>
            <a:srgbClr val="1E2340"/>
          </a:solidFill>
          <a:ln cap="flat" cmpd="sng" w="10150">
            <a:solidFill>
              <a:srgbClr val="FF65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365760" y="4663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584"/>
              </a:buClr>
              <a:buSzPts val="1000"/>
              <a:buFont typeface="Calibri"/>
              <a:buNone/>
            </a:pPr>
            <a:r>
              <a:rPr b="0" i="1" lang="en-US" sz="1000" u="none" cap="none" strike="noStrike">
                <a:solidFill>
                  <a:srgbClr val="FF6584"/>
                </a:solidFill>
                <a:latin typeface="Calibri"/>
                <a:ea typeface="Calibri"/>
                <a:cs typeface="Calibri"/>
                <a:sym typeface="Calibri"/>
              </a:rPr>
              <a:t>✏️  New Self-Reflection: </a:t>
            </a:r>
            <a:r>
              <a:rPr i="1" lang="en-US" sz="1000">
                <a:solidFill>
                  <a:srgbClr val="FF6584"/>
                </a:solidFill>
                <a:latin typeface="Calibri"/>
                <a:ea typeface="Calibri"/>
                <a:cs typeface="Calibri"/>
                <a:sym typeface="Calibri"/>
              </a:rPr>
              <a:t>The loss function changes from cross-entropy (classification) to MSE (regression).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164" name="Shape 164"/>
        <p:cNvGrpSpPr/>
        <p:nvPr/>
      </p:nvGrpSpPr>
      <p:grpSpPr>
        <a:xfrm>
          <a:off x="0" y="0"/>
          <a:ext cx="0" cy="0"/>
          <a:chOff x="0" y="0"/>
          <a:chExt cx="0" cy="0"/>
        </a:xfrm>
      </p:grpSpPr>
      <p:sp>
        <p:nvSpPr>
          <p:cNvPr id="165" name="Google Shape;165;p8"/>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0" y="0"/>
            <a:ext cx="9144000" cy="54864"/>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274320" y="109728"/>
            <a:ext cx="658368" cy="658368"/>
          </a:xfrm>
          <a:prstGeom prst="ellipse">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sp>
        <p:nvSpPr>
          <p:cNvPr id="169" name="Google Shape;169;p8"/>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#4: Removed optimizer.zero_grad()</a:t>
            </a:r>
            <a:endParaRPr b="0" i="0" sz="2000" u="none" cap="none" strike="noStrike">
              <a:solidFill>
                <a:schemeClr val="dk1"/>
              </a:solidFill>
              <a:latin typeface="Calibri"/>
              <a:ea typeface="Calibri"/>
              <a:cs typeface="Calibri"/>
              <a:sym typeface="Calibri"/>
            </a:endParaRPr>
          </a:p>
        </p:txBody>
      </p:sp>
      <p:sp>
        <p:nvSpPr>
          <p:cNvPr id="170" name="Google Shape;170;p8"/>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Jake Willingham</a:t>
            </a:r>
            <a:endParaRPr b="0" i="0" sz="1100" u="none" cap="none" strike="noStrike">
              <a:solidFill>
                <a:schemeClr val="dk1"/>
              </a:solidFill>
              <a:latin typeface="Calibri"/>
              <a:ea typeface="Calibri"/>
              <a:cs typeface="Calibri"/>
              <a:sym typeface="Calibri"/>
            </a:endParaRPr>
          </a:p>
        </p:txBody>
      </p:sp>
      <p:sp>
        <p:nvSpPr>
          <p:cNvPr id="171" name="Google Shape;171;p8"/>
          <p:cNvSpPr/>
          <p:nvPr/>
        </p:nvSpPr>
        <p:spPr>
          <a:xfrm>
            <a:off x="228600" y="1051560"/>
            <a:ext cx="2834640" cy="3520440"/>
          </a:xfrm>
          <a:prstGeom prst="rect">
            <a:avLst/>
          </a:prstGeom>
          <a:solidFill>
            <a:srgbClr val="1E2340"/>
          </a:solidFill>
          <a:ln cap="flat" cmpd="sng" w="15225">
            <a:solidFill>
              <a:srgbClr val="FFD166"/>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228600" y="1051560"/>
            <a:ext cx="2834640" cy="329184"/>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174" name="Google Shape;174;p8"/>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No direct error, but the weight gradients will accumulate rather than reset, leading to increasingly incorrect weight updates.</a:t>
            </a:r>
            <a:endParaRPr b="0" i="0" sz="1100" u="none" cap="none" strike="noStrike">
              <a:solidFill>
                <a:schemeClr val="dk1"/>
              </a:solidFill>
              <a:latin typeface="Calibri"/>
              <a:ea typeface="Calibri"/>
              <a:cs typeface="Calibri"/>
              <a:sym typeface="Calibri"/>
            </a:endParaRPr>
          </a:p>
        </p:txBody>
      </p:sp>
      <p:sp>
        <p:nvSpPr>
          <p:cNvPr id="175" name="Google Shape;175;p8"/>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178" name="Google Shape;178;p8"/>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I wanted to experiment with the zero_grad command. My thoughts are that zeroing out the node every new step gets rid of the old data, and that the accumulation of data might be beneficial.</a:t>
            </a:r>
            <a:endParaRPr b="0" i="0" sz="1100" u="none" cap="none" strike="noStrike">
              <a:solidFill>
                <a:schemeClr val="dk1"/>
              </a:solidFill>
              <a:latin typeface="Calibri"/>
              <a:ea typeface="Calibri"/>
              <a:cs typeface="Calibri"/>
              <a:sym typeface="Calibri"/>
            </a:endParaRPr>
          </a:p>
        </p:txBody>
      </p:sp>
      <p:sp>
        <p:nvSpPr>
          <p:cNvPr id="179" name="Google Shape;179;p8"/>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182" name="Google Shape;182;p8"/>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Gradients aren't like training data — having more of them stacked up doesn't make the model smarter, it just makes the update steps bigger and bigger each batch.</a:t>
            </a:r>
            <a:endParaRPr b="0" i="0" sz="1100" u="none" cap="none" strike="noStrike">
              <a:solidFill>
                <a:schemeClr val="dk1"/>
              </a:solidFill>
              <a:latin typeface="Calibri"/>
              <a:ea typeface="Calibri"/>
              <a:cs typeface="Calibri"/>
              <a:sym typeface="Calibri"/>
            </a:endParaRPr>
          </a:p>
        </p:txBody>
      </p:sp>
      <p:sp>
        <p:nvSpPr>
          <p:cNvPr id="183" name="Google Shape;183;p8"/>
          <p:cNvSpPr/>
          <p:nvPr/>
        </p:nvSpPr>
        <p:spPr>
          <a:xfrm>
            <a:off x="228600" y="4663440"/>
            <a:ext cx="8686800" cy="320040"/>
          </a:xfrm>
          <a:prstGeom prst="rect">
            <a:avLst/>
          </a:prstGeom>
          <a:solidFill>
            <a:srgbClr val="1E2340"/>
          </a:solidFill>
          <a:ln cap="flat" cmpd="sng" w="1015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365760" y="4663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166"/>
              </a:buClr>
              <a:buSzPts val="1000"/>
              <a:buFont typeface="Calibri"/>
              <a:buNone/>
            </a:pPr>
            <a:r>
              <a:rPr b="0" i="1" lang="en-US" sz="1000" u="none" cap="none" strike="noStrike">
                <a:solidFill>
                  <a:srgbClr val="FFD166"/>
                </a:solidFill>
                <a:latin typeface="Calibri"/>
                <a:ea typeface="Calibri"/>
                <a:cs typeface="Calibri"/>
                <a:sym typeface="Calibri"/>
              </a:rPr>
              <a:t>✏️  New Self-Reflection: </a:t>
            </a:r>
            <a:r>
              <a:rPr i="1" lang="en-US" sz="1000">
                <a:solidFill>
                  <a:srgbClr val="FFD166"/>
                </a:solidFill>
                <a:latin typeface="Calibri"/>
                <a:ea typeface="Calibri"/>
                <a:cs typeface="Calibri"/>
                <a:sym typeface="Calibri"/>
              </a:rPr>
              <a:t>Gradient weight updates become increasingly large and incorrect, causing training to diverge.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189" name="Shape 189"/>
        <p:cNvGrpSpPr/>
        <p:nvPr/>
      </p:nvGrpSpPr>
      <p:grpSpPr>
        <a:xfrm>
          <a:off x="0" y="0"/>
          <a:ext cx="0" cy="0"/>
          <a:chOff x="0" y="0"/>
          <a:chExt cx="0" cy="0"/>
        </a:xfrm>
      </p:grpSpPr>
      <p:sp>
        <p:nvSpPr>
          <p:cNvPr id="190" name="Google Shape;190;p9"/>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0" y="0"/>
            <a:ext cx="9144000" cy="54864"/>
          </a:xfrm>
          <a:prstGeom prst="rect">
            <a:avLst/>
          </a:prstGeom>
          <a:solidFill>
            <a:srgbClr val="00C9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274320" y="109728"/>
            <a:ext cx="658368" cy="658368"/>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5</a:t>
            </a:r>
            <a:endParaRPr b="0" i="0" sz="2000" u="none" cap="none" strike="noStrike">
              <a:solidFill>
                <a:schemeClr val="dk1"/>
              </a:solidFill>
              <a:latin typeface="Calibri"/>
              <a:ea typeface="Calibri"/>
              <a:cs typeface="Calibri"/>
              <a:sym typeface="Calibri"/>
            </a:endParaRPr>
          </a:p>
        </p:txBody>
      </p:sp>
      <p:sp>
        <p:nvSpPr>
          <p:cNvPr id="194" name="Google Shape;194;p9"/>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#5: sep=',' (TSV file)</a:t>
            </a:r>
            <a:endParaRPr b="0" i="0" sz="2000" u="none" cap="none" strike="noStrike">
              <a:solidFill>
                <a:schemeClr val="dk1"/>
              </a:solidFill>
              <a:latin typeface="Calibri"/>
              <a:ea typeface="Calibri"/>
              <a:cs typeface="Calibri"/>
              <a:sym typeface="Calibri"/>
            </a:endParaRPr>
          </a:p>
        </p:txBody>
      </p:sp>
      <p:sp>
        <p:nvSpPr>
          <p:cNvPr id="195" name="Google Shape;195;p9"/>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Rymer Popovich</a:t>
            </a:r>
            <a:endParaRPr b="0" i="0" sz="1100" u="none" cap="none" strike="noStrike">
              <a:solidFill>
                <a:schemeClr val="dk1"/>
              </a:solidFill>
              <a:latin typeface="Calibri"/>
              <a:ea typeface="Calibri"/>
              <a:cs typeface="Calibri"/>
              <a:sym typeface="Calibri"/>
            </a:endParaRPr>
          </a:p>
        </p:txBody>
      </p:sp>
      <p:sp>
        <p:nvSpPr>
          <p:cNvPr id="196" name="Google Shape;196;p9"/>
          <p:cNvSpPr/>
          <p:nvPr/>
        </p:nvSpPr>
        <p:spPr>
          <a:xfrm>
            <a:off x="22860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22860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Parsing error from the </a:t>
            </a:r>
            <a:r>
              <a:rPr lang="en-US" sz="1100">
                <a:solidFill>
                  <a:srgbClr val="8888A8"/>
                </a:solidFill>
                <a:latin typeface="Calibri"/>
                <a:ea typeface="Calibri"/>
                <a:cs typeface="Calibri"/>
                <a:sym typeface="Calibri"/>
              </a:rPr>
              <a:t>separator. Unable to create dataframe with comma delimiter when using TSV file.</a:t>
            </a:r>
            <a:endParaRPr b="0" sz="1100" u="none" cap="none" strike="noStrike">
              <a:solidFill>
                <a:schemeClr val="dk1"/>
              </a:solidFill>
              <a:latin typeface="Calibri"/>
              <a:ea typeface="Calibri"/>
              <a:cs typeface="Calibri"/>
              <a:sym typeface="Calibri"/>
            </a:endParaRPr>
          </a:p>
        </p:txBody>
      </p:sp>
      <p:sp>
        <p:nvSpPr>
          <p:cNvPr id="200" name="Google Shape;200;p9"/>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203" name="Google Shape;203;p9"/>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There is some sort of issue with the file being read into the dataframe, this could be due to missing values or column/row errors. It could also be due to incorrectly entered data. </a:t>
            </a:r>
            <a:endParaRPr i="1" sz="1100">
              <a:solidFill>
                <a:srgbClr val="8888A8"/>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i="1" sz="1100">
              <a:solidFill>
                <a:srgbClr val="8888A8"/>
              </a:solidFill>
              <a:latin typeface="Calibri"/>
              <a:ea typeface="Calibri"/>
              <a:cs typeface="Calibri"/>
              <a:sym typeface="Calibri"/>
            </a:endParaRPr>
          </a:p>
          <a:p>
            <a:pPr indent="0" lvl="0" marL="0" marR="0" rtl="0" algn="ctr">
              <a:spcBef>
                <a:spcPts val="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204" name="Google Shape;204;p9"/>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207" name="Google Shape;207;p9"/>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rgbClr val="8888A8"/>
                </a:solidFill>
                <a:latin typeface="Calibri"/>
                <a:ea typeface="Calibri"/>
                <a:cs typeface="Calibri"/>
                <a:sym typeface="Calibri"/>
              </a:rPr>
              <a:t>Look at the filename: Restaurant_Reviews.tsv — what does .tsv stand for, and what does that tell you about the delimiter?</a:t>
            </a:r>
            <a:endParaRPr sz="1100">
              <a:solidFill>
                <a:srgbClr val="8888A8"/>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100">
                <a:solidFill>
                  <a:srgbClr val="8888A8"/>
                </a:solidFill>
                <a:latin typeface="Calibri"/>
                <a:ea typeface="Calibri"/>
                <a:cs typeface="Calibri"/>
                <a:sym typeface="Calibri"/>
              </a:rPr>
              <a:t>Your original code used sep='\t' and worked. Your modified code uses sep=','. If you tell pandas to split on commas but the file uses a different character, what happens?</a:t>
            </a:r>
            <a:endParaRPr sz="1100">
              <a:solidFill>
                <a:srgbClr val="8888A8"/>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100">
                <a:solidFill>
                  <a:srgbClr val="8888A8"/>
                </a:solidFill>
                <a:latin typeface="Calibri"/>
                <a:ea typeface="Calibri"/>
                <a:cs typeface="Calibri"/>
                <a:sym typeface="Calibri"/>
              </a:rPr>
              <a:t>The error says "Expected 1 fields in line 15, saw 3." If pandas expected 1 field but found 3, is the problem in the </a:t>
            </a:r>
            <a:r>
              <a:rPr i="1" lang="en-US" sz="1100">
                <a:solidFill>
                  <a:srgbClr val="8888A8"/>
                </a:solidFill>
                <a:latin typeface="Calibri"/>
                <a:ea typeface="Calibri"/>
                <a:cs typeface="Calibri"/>
                <a:sym typeface="Calibri"/>
              </a:rPr>
              <a:t>data</a:t>
            </a:r>
            <a:r>
              <a:rPr lang="en-US" sz="1100">
                <a:solidFill>
                  <a:srgbClr val="8888A8"/>
                </a:solidFill>
                <a:latin typeface="Calibri"/>
                <a:ea typeface="Calibri"/>
                <a:cs typeface="Calibri"/>
                <a:sym typeface="Calibri"/>
              </a:rPr>
              <a:t> — or in how you're telling pandas to </a:t>
            </a:r>
            <a:r>
              <a:rPr i="1" lang="en-US" sz="1100">
                <a:solidFill>
                  <a:srgbClr val="8888A8"/>
                </a:solidFill>
                <a:latin typeface="Calibri"/>
                <a:ea typeface="Calibri"/>
                <a:cs typeface="Calibri"/>
                <a:sym typeface="Calibri"/>
              </a:rPr>
              <a:t>read</a:t>
            </a:r>
            <a:r>
              <a:rPr lang="en-US" sz="1100">
                <a:solidFill>
                  <a:srgbClr val="8888A8"/>
                </a:solidFill>
                <a:latin typeface="Calibri"/>
                <a:ea typeface="Calibri"/>
                <a:cs typeface="Calibri"/>
                <a:sym typeface="Calibri"/>
              </a:rPr>
              <a:t> it?</a:t>
            </a:r>
            <a:endParaRPr sz="1100">
              <a:solidFill>
                <a:srgbClr val="8888A8"/>
              </a:solidFill>
              <a:latin typeface="Calibri"/>
              <a:ea typeface="Calibri"/>
              <a:cs typeface="Calibri"/>
              <a:sym typeface="Calibri"/>
            </a:endParaRPr>
          </a:p>
          <a:p>
            <a:pPr indent="0" lvl="0" marL="0" marR="0" rtl="0" algn="ctr">
              <a:spcBef>
                <a:spcPts val="1200"/>
              </a:spcBef>
              <a:spcAft>
                <a:spcPts val="0"/>
              </a:spcAft>
              <a:buClr>
                <a:srgbClr val="8888A8"/>
              </a:buClr>
              <a:buSzPts val="1100"/>
              <a:buFont typeface="Calibri"/>
              <a:buNone/>
            </a:pPr>
            <a:r>
              <a:t/>
            </a:r>
            <a:endParaRPr b="1" i="1" sz="1100">
              <a:solidFill>
                <a:srgbClr val="8888A8"/>
              </a:solidFill>
              <a:latin typeface="Calibri"/>
              <a:ea typeface="Calibri"/>
              <a:cs typeface="Calibri"/>
              <a:sym typeface="Calibri"/>
            </a:endParaRPr>
          </a:p>
        </p:txBody>
      </p:sp>
      <p:sp>
        <p:nvSpPr>
          <p:cNvPr id="208" name="Google Shape;208;p9"/>
          <p:cNvSpPr/>
          <p:nvPr/>
        </p:nvSpPr>
        <p:spPr>
          <a:xfrm>
            <a:off x="228600" y="4663440"/>
            <a:ext cx="8686800" cy="320040"/>
          </a:xfrm>
          <a:prstGeom prst="rect">
            <a:avLst/>
          </a:prstGeom>
          <a:solidFill>
            <a:srgbClr val="1E2340"/>
          </a:solidFill>
          <a:ln cap="flat" cmpd="sng" w="1015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365760" y="4663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9A7"/>
              </a:buClr>
              <a:buSzPts val="1000"/>
              <a:buFont typeface="Calibri"/>
              <a:buNone/>
            </a:pPr>
            <a:r>
              <a:rPr b="0" i="1" lang="en-US" sz="1000" u="none" cap="none" strike="noStrike">
                <a:solidFill>
                  <a:srgbClr val="00C9A7"/>
                </a:solidFill>
                <a:latin typeface="Calibri"/>
                <a:ea typeface="Calibri"/>
                <a:cs typeface="Calibri"/>
                <a:sym typeface="Calibri"/>
              </a:rPr>
              <a:t>✏️  New Self-Reflection: </a:t>
            </a:r>
            <a:r>
              <a:rPr i="1" lang="en-US" sz="1000">
                <a:solidFill>
                  <a:srgbClr val="00C9A7"/>
                </a:solidFill>
                <a:latin typeface="Calibri"/>
                <a:ea typeface="Calibri"/>
                <a:cs typeface="Calibri"/>
                <a:sym typeface="Calibri"/>
              </a:rPr>
              <a:t>I understand the separator was causing the issue due to dataset being tab-delimited instead of comma-delimited.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214" name="Shape 214"/>
        <p:cNvGrpSpPr/>
        <p:nvPr/>
      </p:nvGrpSpPr>
      <p:grpSpPr>
        <a:xfrm>
          <a:off x="0" y="0"/>
          <a:ext cx="0" cy="0"/>
          <a:chOff x="0" y="0"/>
          <a:chExt cx="0" cy="0"/>
        </a:xfrm>
      </p:grpSpPr>
      <p:sp>
        <p:nvSpPr>
          <p:cNvPr id="215" name="Google Shape;215;p10"/>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0" y="0"/>
            <a:ext cx="9144000" cy="54864"/>
          </a:xfrm>
          <a:prstGeom prst="rect">
            <a:avLst/>
          </a:prstGeom>
          <a:solidFill>
            <a:srgbClr val="6C6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274320" y="109728"/>
            <a:ext cx="658368" cy="658368"/>
          </a:xfrm>
          <a:prstGeom prst="ellipse">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6</a:t>
            </a:r>
            <a:endParaRPr b="0" i="0" sz="2000" u="none" cap="none" strike="noStrike">
              <a:solidFill>
                <a:schemeClr val="dk1"/>
              </a:solidFill>
              <a:latin typeface="Calibri"/>
              <a:ea typeface="Calibri"/>
              <a:cs typeface="Calibri"/>
              <a:sym typeface="Calibri"/>
            </a:endParaRPr>
          </a:p>
        </p:txBody>
      </p:sp>
      <p:sp>
        <p:nvSpPr>
          <p:cNvPr id="219" name="Google Shape;219;p10"/>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#6: argmax(dim=0)</a:t>
            </a:r>
            <a:endParaRPr b="0" i="0" sz="2000" u="none" cap="none" strike="noStrike">
              <a:solidFill>
                <a:schemeClr val="dk1"/>
              </a:solidFill>
              <a:latin typeface="Calibri"/>
              <a:ea typeface="Calibri"/>
              <a:cs typeface="Calibri"/>
              <a:sym typeface="Calibri"/>
            </a:endParaRPr>
          </a:p>
        </p:txBody>
      </p:sp>
      <p:sp>
        <p:nvSpPr>
          <p:cNvPr id="220" name="Google Shape;220;p10"/>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Rymer Popovich</a:t>
            </a:r>
            <a:endParaRPr b="0" i="0" sz="1100" u="none" cap="none" strike="noStrike">
              <a:solidFill>
                <a:schemeClr val="dk1"/>
              </a:solidFill>
              <a:latin typeface="Calibri"/>
              <a:ea typeface="Calibri"/>
              <a:cs typeface="Calibri"/>
              <a:sym typeface="Calibri"/>
            </a:endParaRPr>
          </a:p>
        </p:txBody>
      </p:sp>
      <p:sp>
        <p:nvSpPr>
          <p:cNvPr id="221" name="Google Shape;221;p10"/>
          <p:cNvSpPr/>
          <p:nvPr/>
        </p:nvSpPr>
        <p:spPr>
          <a:xfrm>
            <a:off x="22860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22860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224" name="Google Shape;224;p10"/>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Parse Error from dimension parameter being set to 0. This resulted in the data not being able to be parsed into the dataframe. </a:t>
            </a:r>
            <a:endParaRPr b="0" i="0" sz="1100" u="none" cap="none" strike="noStrike">
              <a:solidFill>
                <a:schemeClr val="dk1"/>
              </a:solidFill>
              <a:latin typeface="Calibri"/>
              <a:ea typeface="Calibri"/>
              <a:cs typeface="Calibri"/>
              <a:sym typeface="Calibri"/>
            </a:endParaRPr>
          </a:p>
        </p:txBody>
      </p:sp>
      <p:sp>
        <p:nvSpPr>
          <p:cNvPr id="225" name="Google Shape;225;p10"/>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228" name="Google Shape;228;p10"/>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I believe that during the calculation of the performance metrics, the predictors were expected to have a specific number of samples. However, when actually trying to perform that calculation the dim parameter was set to 0, so the input variables were inconsistent with the number of samples.</a:t>
            </a:r>
            <a:endParaRPr i="1" sz="1100">
              <a:solidFill>
                <a:srgbClr val="8888A8"/>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i="1" sz="1100">
              <a:solidFill>
                <a:srgbClr val="8888A8"/>
              </a:solidFill>
              <a:latin typeface="Calibri"/>
              <a:ea typeface="Calibri"/>
              <a:cs typeface="Calibri"/>
              <a:sym typeface="Calibri"/>
            </a:endParaRPr>
          </a:p>
          <a:p>
            <a:pPr indent="0" lvl="0" marL="0" marR="0" rtl="0" algn="ctr">
              <a:spcBef>
                <a:spcPts val="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229" name="Google Shape;229;p10"/>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232" name="Google Shape;232;p10"/>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The student's reflection is off track. The error shown is actually a ParserError from pd.read_csv — it's the same CSV parsing error from a previous cell, not something caused by changing argmax(dim=1) to argmax(dim=0). The student seems to be conflating two different issues.</a:t>
            </a:r>
            <a:endParaRPr i="1" sz="1100">
              <a:solidFill>
                <a:srgbClr val="8888A8"/>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i="1" sz="1100">
              <a:solidFill>
                <a:srgbClr val="8888A8"/>
              </a:solidFill>
              <a:latin typeface="Calibri"/>
              <a:ea typeface="Calibri"/>
              <a:cs typeface="Calibri"/>
              <a:sym typeface="Calibri"/>
            </a:endParaRPr>
          </a:p>
          <a:p>
            <a:pPr indent="0" lvl="0" marL="0" marR="0" rtl="0" algn="ctr">
              <a:spcBef>
                <a:spcPts val="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233" name="Google Shape;233;p10"/>
          <p:cNvSpPr/>
          <p:nvPr/>
        </p:nvSpPr>
        <p:spPr>
          <a:xfrm>
            <a:off x="228600" y="4663440"/>
            <a:ext cx="8686800" cy="320040"/>
          </a:xfrm>
          <a:prstGeom prst="rect">
            <a:avLst/>
          </a:prstGeom>
          <a:solidFill>
            <a:srgbClr val="1E2340"/>
          </a:solidFill>
          <a:ln cap="flat" cmpd="sng" w="1015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365760" y="4663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63FF"/>
              </a:buClr>
              <a:buSzPts val="1000"/>
              <a:buFont typeface="Calibri"/>
              <a:buNone/>
            </a:pPr>
            <a:r>
              <a:rPr b="0" i="1" lang="en-US" sz="1000" u="none" cap="none" strike="noStrike">
                <a:solidFill>
                  <a:srgbClr val="6C63FF"/>
                </a:solidFill>
                <a:latin typeface="Calibri"/>
                <a:ea typeface="Calibri"/>
                <a:cs typeface="Calibri"/>
                <a:sym typeface="Calibri"/>
              </a:rPr>
              <a:t>✏️  New Self-Reflection: </a:t>
            </a:r>
            <a:r>
              <a:rPr i="1" lang="en-US" sz="1000">
                <a:solidFill>
                  <a:srgbClr val="6C63FF"/>
                </a:solidFill>
                <a:latin typeface="Calibri"/>
                <a:ea typeface="Calibri"/>
                <a:cs typeface="Calibri"/>
                <a:sym typeface="Calibri"/>
              </a:rPr>
              <a:t>Issue caused from parsing error by changing dim to 0, not compatible with the dataframe.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239" name="Shape 239"/>
        <p:cNvGrpSpPr/>
        <p:nvPr/>
      </p:nvGrpSpPr>
      <p:grpSpPr>
        <a:xfrm>
          <a:off x="0" y="0"/>
          <a:ext cx="0" cy="0"/>
          <a:chOff x="0" y="0"/>
          <a:chExt cx="0" cy="0"/>
        </a:xfrm>
      </p:grpSpPr>
      <p:sp>
        <p:nvSpPr>
          <p:cNvPr id="240" name="Google Shape;240;p11"/>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0" y="0"/>
            <a:ext cx="9144000" cy="54864"/>
          </a:xfrm>
          <a:prstGeom prst="rect">
            <a:avLst/>
          </a:prstGeom>
          <a:solidFill>
            <a:srgbClr val="FF65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274320" y="109728"/>
            <a:ext cx="658368" cy="658368"/>
          </a:xfrm>
          <a:prstGeom prst="ellipse">
            <a:avLst/>
          </a:prstGeom>
          <a:solidFill>
            <a:srgbClr val="FF6584"/>
          </a:solidFill>
          <a:ln cap="flat" cmpd="sng" w="12700">
            <a:solidFill>
              <a:srgbClr val="FF65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7</a:t>
            </a:r>
            <a:endParaRPr b="0" i="0" sz="2000" u="none" cap="none" strike="noStrike">
              <a:solidFill>
                <a:schemeClr val="dk1"/>
              </a:solidFill>
              <a:latin typeface="Calibri"/>
              <a:ea typeface="Calibri"/>
              <a:cs typeface="Calibri"/>
              <a:sym typeface="Calibri"/>
            </a:endParaRPr>
          </a:p>
        </p:txBody>
      </p:sp>
      <p:sp>
        <p:nvSpPr>
          <p:cNvPr id="244" name="Google Shape;244;p11"/>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#7: metric_names missing F1</a:t>
            </a:r>
            <a:endParaRPr b="0" i="0" sz="2000" u="none" cap="none" strike="noStrike">
              <a:solidFill>
                <a:schemeClr val="dk1"/>
              </a:solidFill>
              <a:latin typeface="Calibri"/>
              <a:ea typeface="Calibri"/>
              <a:cs typeface="Calibri"/>
              <a:sym typeface="Calibri"/>
            </a:endParaRPr>
          </a:p>
        </p:txBody>
      </p:sp>
      <p:sp>
        <p:nvSpPr>
          <p:cNvPr id="245" name="Google Shape;245;p11"/>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Rymer Popovich</a:t>
            </a:r>
            <a:endParaRPr b="0" i="0" sz="1100" u="none" cap="none" strike="noStrike">
              <a:solidFill>
                <a:schemeClr val="dk1"/>
              </a:solidFill>
              <a:latin typeface="Calibri"/>
              <a:ea typeface="Calibri"/>
              <a:cs typeface="Calibri"/>
              <a:sym typeface="Calibri"/>
            </a:endParaRPr>
          </a:p>
        </p:txBody>
      </p:sp>
      <p:sp>
        <p:nvSpPr>
          <p:cNvPr id="246" name="Google Shape;246;p11"/>
          <p:cNvSpPr/>
          <p:nvPr/>
        </p:nvSpPr>
        <p:spPr>
          <a:xfrm>
            <a:off x="228600" y="1051560"/>
            <a:ext cx="2834640" cy="3520440"/>
          </a:xfrm>
          <a:prstGeom prst="rect">
            <a:avLst/>
          </a:prstGeom>
          <a:solidFill>
            <a:srgbClr val="1E2340"/>
          </a:solidFill>
          <a:ln cap="flat" cmpd="sng" w="15225">
            <a:solidFill>
              <a:srgbClr val="FF6584"/>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228600" y="1051560"/>
            <a:ext cx="2834640" cy="329184"/>
          </a:xfrm>
          <a:prstGeom prst="rect">
            <a:avLst/>
          </a:prstGeom>
          <a:solidFill>
            <a:srgbClr val="FF6584"/>
          </a:solidFill>
          <a:ln cap="flat" cmpd="sng" w="12700">
            <a:solidFill>
              <a:srgbClr val="FF65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249" name="Google Shape;249;p11"/>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Unable to generate visualizations from metric_vals being unable to find a record: </a:t>
            </a:r>
            <a:br>
              <a:rPr i="1" lang="en-US" sz="1100">
                <a:solidFill>
                  <a:srgbClr val="8888A8"/>
                </a:solidFill>
                <a:latin typeface="Calibri"/>
                <a:ea typeface="Calibri"/>
                <a:cs typeface="Calibri"/>
                <a:sym typeface="Calibri"/>
              </a:rPr>
            </a:br>
            <a:r>
              <a:rPr lang="en-US" sz="1100">
                <a:solidFill>
                  <a:srgbClr val="8888A8"/>
                </a:solidFill>
                <a:latin typeface="Calibri"/>
                <a:ea typeface="Calibri"/>
                <a:cs typeface="Calibri"/>
                <a:sym typeface="Calibri"/>
              </a:rPr>
              <a:t>“F1 Score” within the array. </a:t>
            </a:r>
            <a:endParaRPr b="0" sz="1100" u="none" cap="none" strike="noStrike">
              <a:solidFill>
                <a:schemeClr val="dk1"/>
              </a:solidFill>
              <a:latin typeface="Calibri"/>
              <a:ea typeface="Calibri"/>
              <a:cs typeface="Calibri"/>
              <a:sym typeface="Calibri"/>
            </a:endParaRPr>
          </a:p>
        </p:txBody>
      </p:sp>
      <p:sp>
        <p:nvSpPr>
          <p:cNvPr id="250" name="Google Shape;250;p11"/>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253" name="Google Shape;253;p11"/>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I believe the problem is that there is some sort of issue with the visualization. This could be due to the fact that there are missing values from the dataset that is causing incomplete visualizations. Or possibly the problem occurs when the plot is being created from the train or validation loss values.</a:t>
            </a:r>
            <a:endParaRPr i="1" sz="1100">
              <a:solidFill>
                <a:srgbClr val="8888A8"/>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i="1" sz="1100">
              <a:solidFill>
                <a:srgbClr val="8888A8"/>
              </a:solidFill>
              <a:latin typeface="Calibri"/>
              <a:ea typeface="Calibri"/>
              <a:cs typeface="Calibri"/>
              <a:sym typeface="Calibri"/>
            </a:endParaRPr>
          </a:p>
          <a:p>
            <a:pPr indent="0" lvl="0" marL="0" marR="0" rtl="0" algn="ctr">
              <a:spcBef>
                <a:spcPts val="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254" name="Google Shape;254;p11"/>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257" name="Google Shape;257;p11"/>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Your reflection mentions missing data and train/validation loss, but this error happens during the metrics bar chart creation. The error is telling you exactly which "arg" has which shape. Can you identify which variables are mismatched in size?</a:t>
            </a:r>
            <a:endParaRPr i="1" sz="1100">
              <a:solidFill>
                <a:srgbClr val="8888A8"/>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i="1" sz="1100">
              <a:solidFill>
                <a:srgbClr val="8888A8"/>
              </a:solidFill>
              <a:latin typeface="Calibri"/>
              <a:ea typeface="Calibri"/>
              <a:cs typeface="Calibri"/>
              <a:sym typeface="Calibri"/>
            </a:endParaRPr>
          </a:p>
          <a:p>
            <a:pPr indent="0" lvl="0" marL="0" marR="0" rtl="0" algn="ctr">
              <a:spcBef>
                <a:spcPts val="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258" name="Google Shape;258;p11"/>
          <p:cNvSpPr/>
          <p:nvPr/>
        </p:nvSpPr>
        <p:spPr>
          <a:xfrm>
            <a:off x="228600" y="4663440"/>
            <a:ext cx="8686800" cy="320040"/>
          </a:xfrm>
          <a:prstGeom prst="rect">
            <a:avLst/>
          </a:prstGeom>
          <a:solidFill>
            <a:srgbClr val="1E2340"/>
          </a:solidFill>
          <a:ln cap="flat" cmpd="sng" w="10150">
            <a:solidFill>
              <a:srgbClr val="FF658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365760" y="4663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584"/>
              </a:buClr>
              <a:buSzPts val="1000"/>
              <a:buFont typeface="Calibri"/>
              <a:buNone/>
            </a:pPr>
            <a:r>
              <a:rPr b="0" i="1" lang="en-US" sz="1000" u="none" cap="none" strike="noStrike">
                <a:solidFill>
                  <a:srgbClr val="FF6584"/>
                </a:solidFill>
                <a:latin typeface="Calibri"/>
                <a:ea typeface="Calibri"/>
                <a:cs typeface="Calibri"/>
                <a:sym typeface="Calibri"/>
              </a:rPr>
              <a:t>✏️  New Self-Reflection: </a:t>
            </a:r>
            <a:r>
              <a:rPr i="1" lang="en-US" sz="1000">
                <a:solidFill>
                  <a:srgbClr val="FF6584"/>
                </a:solidFill>
                <a:latin typeface="Calibri"/>
                <a:ea typeface="Calibri"/>
                <a:cs typeface="Calibri"/>
                <a:sym typeface="Calibri"/>
              </a:rPr>
              <a:t>There were missing values within the metric_vals array. When the code was looking for an F1 value, there was none.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264" name="Shape 264"/>
        <p:cNvGrpSpPr/>
        <p:nvPr/>
      </p:nvGrpSpPr>
      <p:grpSpPr>
        <a:xfrm>
          <a:off x="0" y="0"/>
          <a:ext cx="0" cy="0"/>
          <a:chOff x="0" y="0"/>
          <a:chExt cx="0" cy="0"/>
        </a:xfrm>
      </p:grpSpPr>
      <p:sp>
        <p:nvSpPr>
          <p:cNvPr id="265" name="Google Shape;265;p12"/>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0" y="0"/>
            <a:ext cx="9144000" cy="54864"/>
          </a:xfrm>
          <a:prstGeom prst="rect">
            <a:avLst/>
          </a:prstGeom>
          <a:solidFill>
            <a:srgbClr val="FFD1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274320" y="109728"/>
            <a:ext cx="658368" cy="658368"/>
          </a:xfrm>
          <a:prstGeom prst="ellipse">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8</a:t>
            </a:r>
            <a:endParaRPr b="0" i="0" sz="2000" u="none" cap="none" strike="noStrike">
              <a:solidFill>
                <a:schemeClr val="dk1"/>
              </a:solidFill>
              <a:latin typeface="Calibri"/>
              <a:ea typeface="Calibri"/>
              <a:cs typeface="Calibri"/>
              <a:sym typeface="Calibri"/>
            </a:endParaRPr>
          </a:p>
        </p:txBody>
      </p:sp>
      <p:sp>
        <p:nvSpPr>
          <p:cNvPr id="269" name="Google Shape;269;p12"/>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#8: lr = 5</a:t>
            </a:r>
            <a:endParaRPr b="0" i="0" sz="2000" u="none" cap="none" strike="noStrike">
              <a:solidFill>
                <a:schemeClr val="dk1"/>
              </a:solidFill>
              <a:latin typeface="Calibri"/>
              <a:ea typeface="Calibri"/>
              <a:cs typeface="Calibri"/>
              <a:sym typeface="Calibri"/>
            </a:endParaRPr>
          </a:p>
        </p:txBody>
      </p:sp>
      <p:sp>
        <p:nvSpPr>
          <p:cNvPr id="270" name="Google Shape;270;p12"/>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Noah</a:t>
            </a:r>
            <a:endParaRPr b="0" i="0" sz="1100" u="none" cap="none" strike="noStrike">
              <a:solidFill>
                <a:schemeClr val="dk1"/>
              </a:solidFill>
              <a:latin typeface="Calibri"/>
              <a:ea typeface="Calibri"/>
              <a:cs typeface="Calibri"/>
              <a:sym typeface="Calibri"/>
            </a:endParaRPr>
          </a:p>
        </p:txBody>
      </p:sp>
      <p:sp>
        <p:nvSpPr>
          <p:cNvPr id="271" name="Google Shape;271;p12"/>
          <p:cNvSpPr/>
          <p:nvPr/>
        </p:nvSpPr>
        <p:spPr>
          <a:xfrm>
            <a:off x="228600" y="1051560"/>
            <a:ext cx="2834640" cy="3520440"/>
          </a:xfrm>
          <a:prstGeom prst="rect">
            <a:avLst/>
          </a:prstGeom>
          <a:solidFill>
            <a:srgbClr val="1E2340"/>
          </a:solidFill>
          <a:ln cap="flat" cmpd="sng" w="15225">
            <a:solidFill>
              <a:srgbClr val="FFD166"/>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228600" y="1051560"/>
            <a:ext cx="2834640" cy="329184"/>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274" name="Google Shape;274;p12"/>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Error: Incorrect Learning Rate</a:t>
            </a:r>
            <a:endParaRPr i="1" sz="1100">
              <a:solidFill>
                <a:srgbClr val="8888A8"/>
              </a:solidFill>
              <a:latin typeface="Calibri"/>
              <a:ea typeface="Calibri"/>
              <a:cs typeface="Calibri"/>
              <a:sym typeface="Calibri"/>
            </a:endParaRPr>
          </a:p>
          <a:p>
            <a:pPr indent="0" lvl="0" marL="0" marR="0" rtl="0" algn="ctr">
              <a:lnSpc>
                <a:spcPct val="100000"/>
              </a:lnSpc>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Correct: lr=5e-5 (0.00005)</a:t>
            </a:r>
            <a:endParaRPr i="1" sz="1100">
              <a:solidFill>
                <a:srgbClr val="8888A8"/>
              </a:solidFill>
              <a:latin typeface="Calibri"/>
              <a:ea typeface="Calibri"/>
              <a:cs typeface="Calibri"/>
              <a:sym typeface="Calibri"/>
            </a:endParaRPr>
          </a:p>
          <a:p>
            <a:pPr indent="0" lvl="0" marL="0" marR="0" rtl="0" algn="ctr">
              <a:lnSpc>
                <a:spcPct val="100000"/>
              </a:lnSpc>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Bug: lr=5 — missing the scientific notation exponent</a:t>
            </a:r>
            <a:endParaRPr i="1" sz="1100">
              <a:solidFill>
                <a:srgbClr val="8888A8"/>
              </a:solidFill>
              <a:latin typeface="Calibri"/>
              <a:ea typeface="Calibri"/>
              <a:cs typeface="Calibri"/>
              <a:sym typeface="Calibri"/>
            </a:endParaRPr>
          </a:p>
          <a:p>
            <a:pPr indent="0" lvl="0" marL="0" marR="0" rtl="0" algn="ctr">
              <a:lnSpc>
                <a:spcPct val="100000"/>
              </a:lnSpc>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Impact: A learning rate of 5 causes gradient explosion, preventing the model from converging during training</a:t>
            </a:r>
            <a:endParaRPr sz="1100">
              <a:solidFill>
                <a:schemeClr val="dk1"/>
              </a:solidFill>
            </a:endParaRPr>
          </a:p>
          <a:p>
            <a:pPr indent="0" lvl="0" marL="0" marR="0" rtl="0" algn="ctr">
              <a:spcBef>
                <a:spcPts val="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275" name="Google Shape;275;p12"/>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i="1" sz="1100">
              <a:solidFill>
                <a:srgbClr val="8888A8"/>
              </a:solidFill>
              <a:latin typeface="Calibri"/>
              <a:ea typeface="Calibri"/>
              <a:cs typeface="Calibri"/>
              <a:sym typeface="Calibri"/>
            </a:endParaRPr>
          </a:p>
        </p:txBody>
      </p:sp>
      <p:sp>
        <p:nvSpPr>
          <p:cNvPr id="276" name="Google Shape;276;p12"/>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278" name="Google Shape;278;p12"/>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I changed the learning rate and now the model seems to be training but the loss is not decreasing properly. Instead, it shoots up immediately and then stays very high. I think the problem might be related to the scheduler not working correctly with the new learning rate value, or maybe the model architecture is not compatible with larger learning rates.</a:t>
            </a:r>
            <a:endParaRPr i="1" sz="1100">
              <a:solidFill>
                <a:srgbClr val="8888A8"/>
              </a:solidFill>
              <a:latin typeface="Calibri"/>
              <a:ea typeface="Calibri"/>
              <a:cs typeface="Calibri"/>
              <a:sym typeface="Calibri"/>
            </a:endParaRPr>
          </a:p>
        </p:txBody>
      </p:sp>
      <p:sp>
        <p:nvSpPr>
          <p:cNvPr id="279" name="Google Shape;279;p12"/>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282" name="Google Shape;282;p12"/>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"The learning rate controls step size in parameter space. Going from lr=5e-5 to lr=5 makes each update 100,000x larger — geometrically, that means leaping completely across the loss landscape instead of stepping carefully toward the minimum. For a pre-trained model like DistilBERT, which expects tiny fine-tuning updates, a step that large destroys the pre-trained weights instantly.</a:t>
            </a:r>
            <a:r>
              <a:rPr lang="en-US" sz="1000">
                <a:solidFill>
                  <a:schemeClr val="dk1"/>
                </a:solidFill>
              </a:rPr>
              <a:t>happens to the pre-trained weights when </a:t>
            </a:r>
            <a:endParaRPr sz="1100">
              <a:solidFill>
                <a:schemeClr val="dk1"/>
              </a:solidFill>
              <a:latin typeface="Calibri"/>
              <a:ea typeface="Calibri"/>
              <a:cs typeface="Calibri"/>
              <a:sym typeface="Calibri"/>
            </a:endParaRPr>
          </a:p>
        </p:txBody>
      </p:sp>
      <p:sp>
        <p:nvSpPr>
          <p:cNvPr id="283" name="Google Shape;283;p12"/>
          <p:cNvSpPr/>
          <p:nvPr/>
        </p:nvSpPr>
        <p:spPr>
          <a:xfrm>
            <a:off x="228600" y="4663440"/>
            <a:ext cx="8686800" cy="320040"/>
          </a:xfrm>
          <a:prstGeom prst="rect">
            <a:avLst/>
          </a:prstGeom>
          <a:solidFill>
            <a:srgbClr val="1E2340"/>
          </a:solidFill>
          <a:ln cap="flat" cmpd="sng" w="1015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p:nvPr/>
        </p:nvSpPr>
        <p:spPr>
          <a:xfrm>
            <a:off x="365750" y="4727600"/>
            <a:ext cx="8412600" cy="32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FD166"/>
              </a:buClr>
              <a:buSzPts val="1000"/>
              <a:buFont typeface="Calibri"/>
              <a:buNone/>
            </a:pPr>
            <a:r>
              <a:rPr i="1" lang="en-US" sz="1000">
                <a:solidFill>
                  <a:srgbClr val="FFD166"/>
                </a:solidFill>
                <a:latin typeface="Calibri"/>
                <a:ea typeface="Calibri"/>
                <a:cs typeface="Calibri"/>
                <a:sym typeface="Calibri"/>
              </a:rPr>
              <a:t>✏️  New Self Reflection: Setting lr=5 instead of lr=5e-5 makes updates 100,000x too large, causing the optimizer to overshoot the loss minimum and destroy pre-trained weights. The fix: restore lr=5e-5 for stable fine-tuning."</a:t>
            </a:r>
            <a:endParaRPr b="1" sz="1100">
              <a:solidFill>
                <a:schemeClr val="dk1"/>
              </a:solidFill>
            </a:endParaRPr>
          </a:p>
          <a:p>
            <a:pPr indent="0" lvl="0" marL="0" marR="0" rtl="0" algn="l">
              <a:spcBef>
                <a:spcPts val="0"/>
              </a:spcBef>
              <a:spcAft>
                <a:spcPts val="0"/>
              </a:spcAft>
              <a:buClr>
                <a:srgbClr val="FFD166"/>
              </a:buClr>
              <a:buSzPts val="1000"/>
              <a:buFont typeface="Calibri"/>
              <a:buNone/>
            </a:pPr>
            <a:r>
              <a:t/>
            </a:r>
            <a:endParaRPr i="1" sz="1000">
              <a:solidFill>
                <a:srgbClr val="FFD16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289" name="Shape 289"/>
        <p:cNvGrpSpPr/>
        <p:nvPr/>
      </p:nvGrpSpPr>
      <p:grpSpPr>
        <a:xfrm>
          <a:off x="0" y="0"/>
          <a:ext cx="0" cy="0"/>
          <a:chOff x="0" y="0"/>
          <a:chExt cx="0" cy="0"/>
        </a:xfrm>
      </p:grpSpPr>
      <p:sp>
        <p:nvSpPr>
          <p:cNvPr id="290" name="Google Shape;290;p13"/>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p:nvPr/>
        </p:nvSpPr>
        <p:spPr>
          <a:xfrm>
            <a:off x="0" y="0"/>
            <a:ext cx="9144000" cy="54864"/>
          </a:xfrm>
          <a:prstGeom prst="rect">
            <a:avLst/>
          </a:prstGeom>
          <a:solidFill>
            <a:srgbClr val="00C9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274320" y="109728"/>
            <a:ext cx="658368" cy="658368"/>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9</a:t>
            </a:r>
            <a:endParaRPr b="0" i="0" sz="2000" u="none" cap="none" strike="noStrike">
              <a:solidFill>
                <a:schemeClr val="dk1"/>
              </a:solidFill>
              <a:latin typeface="Calibri"/>
              <a:ea typeface="Calibri"/>
              <a:cs typeface="Calibri"/>
              <a:sym typeface="Calibri"/>
            </a:endParaRPr>
          </a:p>
        </p:txBody>
      </p:sp>
      <p:sp>
        <p:nvSpPr>
          <p:cNvPr id="294" name="Google Shape;294;p13"/>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#9: random_state = 0 (both splits)</a:t>
            </a:r>
            <a:endParaRPr b="0" i="0" sz="2000" u="none" cap="none" strike="noStrike">
              <a:solidFill>
                <a:schemeClr val="dk1"/>
              </a:solidFill>
              <a:latin typeface="Calibri"/>
              <a:ea typeface="Calibri"/>
              <a:cs typeface="Calibri"/>
              <a:sym typeface="Calibri"/>
            </a:endParaRPr>
          </a:p>
        </p:txBody>
      </p:sp>
      <p:sp>
        <p:nvSpPr>
          <p:cNvPr id="295" name="Google Shape;295;p13"/>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Noah</a:t>
            </a:r>
            <a:endParaRPr b="0" i="0" sz="1100" u="none" cap="none" strike="noStrike">
              <a:solidFill>
                <a:schemeClr val="dk1"/>
              </a:solidFill>
              <a:latin typeface="Calibri"/>
              <a:ea typeface="Calibri"/>
              <a:cs typeface="Calibri"/>
              <a:sym typeface="Calibri"/>
            </a:endParaRPr>
          </a:p>
        </p:txBody>
      </p:sp>
      <p:sp>
        <p:nvSpPr>
          <p:cNvPr id="296" name="Google Shape;296;p13"/>
          <p:cNvSpPr/>
          <p:nvPr/>
        </p:nvSpPr>
        <p:spPr>
          <a:xfrm>
            <a:off x="22860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22860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299" name="Google Shape;299;p13"/>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120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Error: Incorrect Random State</a:t>
            </a:r>
            <a:endParaRPr i="1" sz="1100">
              <a:solidFill>
                <a:srgbClr val="8888A8"/>
              </a:solidFill>
              <a:latin typeface="Calibri"/>
              <a:ea typeface="Calibri"/>
              <a:cs typeface="Calibri"/>
              <a:sym typeface="Calibri"/>
            </a:endParaRPr>
          </a:p>
          <a:p>
            <a:pPr indent="0" lvl="0" marL="457200" rtl="0" algn="ctr">
              <a:lnSpc>
                <a:spcPct val="115000"/>
              </a:lnSpc>
              <a:spcBef>
                <a:spcPts val="1200"/>
              </a:spcBef>
              <a:spcAft>
                <a:spcPts val="0"/>
              </a:spcAft>
              <a:buNone/>
            </a:pPr>
            <a:r>
              <a:rPr i="1" lang="en-US" sz="1100">
                <a:solidFill>
                  <a:srgbClr val="8888A8"/>
                </a:solidFill>
                <a:latin typeface="Calibri"/>
                <a:ea typeface="Calibri"/>
                <a:cs typeface="Calibri"/>
                <a:sym typeface="Calibri"/>
              </a:rPr>
              <a:t>Correct: random_state=42</a:t>
            </a:r>
            <a:endParaRPr i="1" sz="1100">
              <a:solidFill>
                <a:srgbClr val="8888A8"/>
              </a:solidFill>
              <a:latin typeface="Calibri"/>
              <a:ea typeface="Calibri"/>
              <a:cs typeface="Calibri"/>
              <a:sym typeface="Calibri"/>
            </a:endParaRPr>
          </a:p>
          <a:p>
            <a:pPr indent="0" lvl="0" marL="457200" rtl="0" algn="ctr">
              <a:lnSpc>
                <a:spcPct val="115000"/>
              </a:lnSpc>
              <a:spcBef>
                <a:spcPts val="1200"/>
              </a:spcBef>
              <a:spcAft>
                <a:spcPts val="0"/>
              </a:spcAft>
              <a:buNone/>
            </a:pPr>
            <a:r>
              <a:rPr i="1" lang="en-US" sz="1100">
                <a:solidFill>
                  <a:srgbClr val="8888A8"/>
                </a:solidFill>
                <a:latin typeface="Calibri"/>
                <a:ea typeface="Calibri"/>
                <a:cs typeface="Calibri"/>
                <a:sym typeface="Calibri"/>
              </a:rPr>
              <a:t>Bug: random_state=0</a:t>
            </a:r>
            <a:endParaRPr i="1" sz="1100">
              <a:solidFill>
                <a:srgbClr val="8888A8"/>
              </a:solidFill>
              <a:latin typeface="Calibri"/>
              <a:ea typeface="Calibri"/>
              <a:cs typeface="Calibri"/>
              <a:sym typeface="Calibri"/>
            </a:endParaRPr>
          </a:p>
          <a:p>
            <a:pPr indent="0" lvl="0" marL="457200" rtl="0" algn="ctr">
              <a:lnSpc>
                <a:spcPct val="115000"/>
              </a:lnSpc>
              <a:spcBef>
                <a:spcPts val="1200"/>
              </a:spcBef>
              <a:spcAft>
                <a:spcPts val="0"/>
              </a:spcAft>
              <a:buNone/>
            </a:pPr>
            <a:r>
              <a:rPr i="1" lang="en-US" sz="1100">
                <a:solidFill>
                  <a:srgbClr val="8888A8"/>
                </a:solidFill>
                <a:latin typeface="Calibri"/>
                <a:ea typeface="Calibri"/>
                <a:cs typeface="Calibri"/>
                <a:sym typeface="Calibri"/>
              </a:rPr>
              <a:t>Impact: Different random seeds produce different train/val/test splits, meaning the model is evaluated on different data than intended — results become irreproducible and comparisons across runs are invalid.</a:t>
            </a:r>
            <a:endParaRPr sz="1100">
              <a:solidFill>
                <a:schemeClr val="dk1"/>
              </a:solidFill>
            </a:endParaRPr>
          </a:p>
          <a:p>
            <a:pPr indent="0" lvl="0" marL="0" marR="0" rtl="0" algn="ctr">
              <a:spcBef>
                <a:spcPts val="1200"/>
              </a:spcBef>
              <a:spcAft>
                <a:spcPts val="0"/>
              </a:spcAft>
              <a:buClr>
                <a:srgbClr val="8888A8"/>
              </a:buClr>
              <a:buSzPts val="1100"/>
              <a:buFont typeface="Calibri"/>
              <a:buNone/>
            </a:pPr>
            <a:r>
              <a:t/>
            </a:r>
            <a:endParaRPr i="1" sz="1100">
              <a:solidFill>
                <a:srgbClr val="8888A8"/>
              </a:solidFill>
              <a:latin typeface="Calibri"/>
              <a:ea typeface="Calibri"/>
              <a:cs typeface="Calibri"/>
              <a:sym typeface="Calibri"/>
            </a:endParaRPr>
          </a:p>
        </p:txBody>
      </p:sp>
      <p:sp>
        <p:nvSpPr>
          <p:cNvPr id="300" name="Google Shape;300;p13"/>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303" name="Google Shape;303;p13"/>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I changed the random seed and now the model produces different accuracy numbers than before. I think something is broken in the model because changing the random seed should not affect the final performance — it is just a seed, so the results should be the same regardless of which seed is used.</a:t>
            </a:r>
            <a:endParaRPr b="0" i="0" sz="1100" u="none" cap="none" strike="noStrike">
              <a:solidFill>
                <a:schemeClr val="dk1"/>
              </a:solidFill>
              <a:latin typeface="Calibri"/>
              <a:ea typeface="Calibri"/>
              <a:cs typeface="Calibri"/>
              <a:sym typeface="Calibri"/>
            </a:endParaRPr>
          </a:p>
        </p:txBody>
      </p:sp>
      <p:sp>
        <p:nvSpPr>
          <p:cNvPr id="304" name="Google Shape;304;p13"/>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i="1" sz="1100">
              <a:solidFill>
                <a:srgbClr val="8888A8"/>
              </a:solidFill>
              <a:latin typeface="Calibri"/>
              <a:ea typeface="Calibri"/>
              <a:cs typeface="Calibri"/>
              <a:sym typeface="Calibri"/>
            </a:endParaRPr>
          </a:p>
        </p:txBody>
      </p:sp>
      <p:sp>
        <p:nvSpPr>
          <p:cNvPr id="305" name="Google Shape;305;p13"/>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307" name="Google Shape;307;p13"/>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The seed controls which exact samples land in train vs. test. If one seed puts easier examples in the test set and another puts harder ones, accuracy will differ — not because the model is broken, but because the evaluation set changed. This reveals whether a performance shift is a real problem or just expected variance from a different split composition.</a:t>
            </a:r>
            <a:endParaRPr i="1" sz="1100">
              <a:solidFill>
                <a:srgbClr val="8888A8"/>
              </a:solidFill>
              <a:latin typeface="Calibri"/>
              <a:ea typeface="Calibri"/>
              <a:cs typeface="Calibri"/>
              <a:sym typeface="Calibri"/>
            </a:endParaRPr>
          </a:p>
        </p:txBody>
      </p:sp>
      <p:sp>
        <p:nvSpPr>
          <p:cNvPr id="308" name="Google Shape;308;p13"/>
          <p:cNvSpPr/>
          <p:nvPr/>
        </p:nvSpPr>
        <p:spPr>
          <a:xfrm>
            <a:off x="228600" y="4663440"/>
            <a:ext cx="8686800" cy="320040"/>
          </a:xfrm>
          <a:prstGeom prst="rect">
            <a:avLst/>
          </a:prstGeom>
          <a:solidFill>
            <a:srgbClr val="1E2340"/>
          </a:solidFill>
          <a:ln cap="flat" cmpd="sng" w="1015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365700" y="4615412"/>
            <a:ext cx="8412600" cy="41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9A7"/>
              </a:buClr>
              <a:buSzPts val="1000"/>
              <a:buFont typeface="Calibri"/>
              <a:buNone/>
            </a:pPr>
            <a:r>
              <a:rPr b="0" i="1" lang="en-US" sz="900" u="none" cap="none" strike="noStrike">
                <a:solidFill>
                  <a:srgbClr val="00C9A7"/>
                </a:solidFill>
                <a:latin typeface="Calibri"/>
                <a:ea typeface="Calibri"/>
                <a:cs typeface="Calibri"/>
                <a:sym typeface="Calibri"/>
              </a:rPr>
              <a:t>✏️  </a:t>
            </a:r>
            <a:r>
              <a:rPr i="1" lang="en-US" sz="900">
                <a:solidFill>
                  <a:srgbClr val="00C9A7"/>
                </a:solidFill>
                <a:latin typeface="Calibri"/>
                <a:ea typeface="Calibri"/>
                <a:cs typeface="Calibri"/>
                <a:sym typeface="Calibri"/>
              </a:rPr>
              <a:t> New Self Reflection: Using random_state=0 instead of 42 produces a completely </a:t>
            </a:r>
            <a:r>
              <a:rPr i="1" lang="en-US" sz="900">
                <a:solidFill>
                  <a:srgbClr val="00C9A7"/>
                </a:solidFill>
                <a:latin typeface="Calibri"/>
                <a:ea typeface="Calibri"/>
                <a:cs typeface="Calibri"/>
                <a:sym typeface="Calibri"/>
              </a:rPr>
              <a:t>different</a:t>
            </a:r>
            <a:r>
              <a:rPr i="1" lang="en-US" sz="900">
                <a:solidFill>
                  <a:srgbClr val="00C9A7"/>
                </a:solidFill>
                <a:latin typeface="Calibri"/>
                <a:ea typeface="Calibri"/>
                <a:cs typeface="Calibri"/>
                <a:sym typeface="Calibri"/>
              </a:rPr>
              <a:t> data split, making results non-reproducible. Since the model trains and evaluates on different samples than intended, performance metrics can't be meaningfully compared across runs. The fix: restore random_state=42 to ensure a consistent, reproducible split.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314" name="Shape 314"/>
        <p:cNvGrpSpPr/>
        <p:nvPr/>
      </p:nvGrpSpPr>
      <p:grpSpPr>
        <a:xfrm>
          <a:off x="0" y="0"/>
          <a:ext cx="0" cy="0"/>
          <a:chOff x="0" y="0"/>
          <a:chExt cx="0" cy="0"/>
        </a:xfrm>
      </p:grpSpPr>
      <p:sp>
        <p:nvSpPr>
          <p:cNvPr id="315" name="Google Shape;315;p14"/>
          <p:cNvSpPr/>
          <p:nvPr/>
        </p:nvSpPr>
        <p:spPr>
          <a:xfrm>
            <a:off x="0" y="0"/>
            <a:ext cx="9144000" cy="914400"/>
          </a:xfrm>
          <a:prstGeom prst="rect">
            <a:avLst/>
          </a:prstGeom>
          <a:solidFill>
            <a:srgbClr val="1E23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0" y="0"/>
            <a:ext cx="9144000" cy="54864"/>
          </a:xfrm>
          <a:prstGeom prst="rect">
            <a:avLst/>
          </a:prstGeom>
          <a:solidFill>
            <a:srgbClr val="6C6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p:nvPr/>
        </p:nvSpPr>
        <p:spPr>
          <a:xfrm>
            <a:off x="274320" y="109728"/>
            <a:ext cx="658368" cy="658368"/>
          </a:xfrm>
          <a:prstGeom prst="ellipse">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4"/>
          <p:cNvSpPr/>
          <p:nvPr/>
        </p:nvSpPr>
        <p:spPr>
          <a:xfrm>
            <a:off x="274320" y="109728"/>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340"/>
              </a:buClr>
              <a:buSzPts val="2000"/>
              <a:buFont typeface="Calibri"/>
              <a:buNone/>
            </a:pPr>
            <a:r>
              <a:rPr b="1" i="0" lang="en-US" sz="2000" u="none" cap="none" strike="noStrike">
                <a:solidFill>
                  <a:srgbClr val="1E2340"/>
                </a:solidFill>
                <a:latin typeface="Calibri"/>
                <a:ea typeface="Calibri"/>
                <a:cs typeface="Calibri"/>
                <a:sym typeface="Calibri"/>
              </a:rPr>
              <a:t>10</a:t>
            </a:r>
            <a:endParaRPr b="0" i="0" sz="2000" u="none" cap="none" strike="noStrike">
              <a:solidFill>
                <a:schemeClr val="dk1"/>
              </a:solidFill>
              <a:latin typeface="Calibri"/>
              <a:ea typeface="Calibri"/>
              <a:cs typeface="Calibri"/>
              <a:sym typeface="Calibri"/>
            </a:endParaRPr>
          </a:p>
        </p:txBody>
      </p:sp>
      <p:sp>
        <p:nvSpPr>
          <p:cNvPr id="319" name="Google Shape;319;p14"/>
          <p:cNvSpPr/>
          <p:nvPr/>
        </p:nvSpPr>
        <p:spPr>
          <a:xfrm>
            <a:off x="1097280" y="73152"/>
            <a:ext cx="67665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onsolas"/>
              <a:buNone/>
            </a:pPr>
            <a:r>
              <a:rPr b="1" i="0" lang="en-US" sz="2000" u="none" cap="none" strike="noStrike">
                <a:solidFill>
                  <a:srgbClr val="FFFFFF"/>
                </a:solidFill>
                <a:latin typeface="Consolas"/>
                <a:ea typeface="Consolas"/>
                <a:cs typeface="Consolas"/>
                <a:sym typeface="Consolas"/>
              </a:rPr>
              <a:t>Bug #10: append() instead of extend()</a:t>
            </a:r>
            <a:endParaRPr b="0" i="0" sz="2000" u="none" cap="none" strike="noStrike">
              <a:solidFill>
                <a:schemeClr val="dk1"/>
              </a:solidFill>
              <a:latin typeface="Calibri"/>
              <a:ea typeface="Calibri"/>
              <a:cs typeface="Calibri"/>
              <a:sym typeface="Calibri"/>
            </a:endParaRPr>
          </a:p>
        </p:txBody>
      </p:sp>
      <p:sp>
        <p:nvSpPr>
          <p:cNvPr id="320" name="Google Shape;320;p14"/>
          <p:cNvSpPr/>
          <p:nvPr/>
        </p:nvSpPr>
        <p:spPr>
          <a:xfrm>
            <a:off x="1097280" y="54864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b="0" i="1" lang="en-US" sz="1100" u="none" cap="none" strike="noStrike">
                <a:solidFill>
                  <a:srgbClr val="8888A8"/>
                </a:solidFill>
                <a:latin typeface="Calibri"/>
                <a:ea typeface="Calibri"/>
                <a:cs typeface="Calibri"/>
                <a:sym typeface="Calibri"/>
              </a:rPr>
              <a:t>Student: Noah</a:t>
            </a:r>
            <a:endParaRPr b="0" i="0" sz="1100" u="none" cap="none" strike="noStrike">
              <a:solidFill>
                <a:schemeClr val="dk1"/>
              </a:solidFill>
              <a:latin typeface="Calibri"/>
              <a:ea typeface="Calibri"/>
              <a:cs typeface="Calibri"/>
              <a:sym typeface="Calibri"/>
            </a:endParaRPr>
          </a:p>
        </p:txBody>
      </p:sp>
      <p:sp>
        <p:nvSpPr>
          <p:cNvPr id="321" name="Google Shape;321;p14"/>
          <p:cNvSpPr/>
          <p:nvPr/>
        </p:nvSpPr>
        <p:spPr>
          <a:xfrm>
            <a:off x="22860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22860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p:nvPr/>
        </p:nvSpPr>
        <p:spPr>
          <a:xfrm>
            <a:off x="33832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The Bug</a:t>
            </a:r>
            <a:endParaRPr b="0" i="0" sz="1100" u="none" cap="none" strike="noStrike">
              <a:solidFill>
                <a:schemeClr val="dk1"/>
              </a:solidFill>
              <a:latin typeface="Calibri"/>
              <a:ea typeface="Calibri"/>
              <a:cs typeface="Calibri"/>
              <a:sym typeface="Calibri"/>
            </a:endParaRPr>
          </a:p>
        </p:txBody>
      </p:sp>
      <p:sp>
        <p:nvSpPr>
          <p:cNvPr id="324" name="Google Shape;324;p14"/>
          <p:cNvSpPr/>
          <p:nvPr/>
        </p:nvSpPr>
        <p:spPr>
          <a:xfrm>
            <a:off x="365760" y="1463040"/>
            <a:ext cx="2560320" cy="292608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i="1" lang="en-US" sz="1100">
                <a:solidFill>
                  <a:srgbClr val="8888A8"/>
                </a:solidFill>
                <a:latin typeface="Calibri"/>
                <a:ea typeface="Calibri"/>
                <a:cs typeface="Calibri"/>
                <a:sym typeface="Calibri"/>
              </a:rPr>
              <a:t>Error: append() vs extend()</a:t>
            </a:r>
            <a:endParaRPr i="1" sz="1100">
              <a:solidFill>
                <a:srgbClr val="8888A8"/>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i="1" lang="en-US" sz="1100">
                <a:solidFill>
                  <a:srgbClr val="8888A8"/>
                </a:solidFill>
                <a:latin typeface="Calibri"/>
                <a:ea typeface="Calibri"/>
                <a:cs typeface="Calibri"/>
                <a:sym typeface="Calibri"/>
              </a:rPr>
              <a:t>Correct: all_preds.extend(preds)</a:t>
            </a:r>
            <a:endParaRPr i="1" sz="1100">
              <a:solidFill>
                <a:srgbClr val="8888A8"/>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i="1" lang="en-US" sz="1100">
                <a:solidFill>
                  <a:srgbClr val="8888A8"/>
                </a:solidFill>
                <a:latin typeface="Calibri"/>
                <a:ea typeface="Calibri"/>
                <a:cs typeface="Calibri"/>
                <a:sym typeface="Calibri"/>
              </a:rPr>
              <a:t>Bug: all_preds.append(preds)</a:t>
            </a:r>
            <a:endParaRPr i="1" sz="1100">
              <a:solidFill>
                <a:srgbClr val="8888A8"/>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i="1" lang="en-US" sz="1100">
                <a:solidFill>
                  <a:srgbClr val="8888A8"/>
                </a:solidFill>
                <a:latin typeface="Calibri"/>
                <a:ea typeface="Calibri"/>
                <a:cs typeface="Calibri"/>
                <a:sym typeface="Calibri"/>
              </a:rPr>
              <a:t>Impact: append adds the entire batch as a single nested element instead of adding individual predictions, creating a list of tensors rather than a flat list — causing shape mismatches when computing metrics.</a:t>
            </a:r>
            <a:endParaRPr sz="1100">
              <a:solidFill>
                <a:schemeClr val="dk1"/>
              </a:solidFill>
            </a:endParaRPr>
          </a:p>
          <a:p>
            <a:pPr indent="0" lvl="0" marL="0" marR="0" rtl="0" algn="l">
              <a:spcBef>
                <a:spcPts val="1200"/>
              </a:spcBef>
              <a:spcAft>
                <a:spcPts val="0"/>
              </a:spcAft>
              <a:buClr>
                <a:srgbClr val="8888A8"/>
              </a:buClr>
              <a:buSzPts val="1100"/>
              <a:buFont typeface="Calibri"/>
              <a:buNone/>
            </a:pPr>
            <a:r>
              <a:t/>
            </a:r>
            <a:endParaRPr sz="1100">
              <a:solidFill>
                <a:schemeClr val="dk1"/>
              </a:solidFill>
              <a:latin typeface="Calibri"/>
              <a:ea typeface="Calibri"/>
              <a:cs typeface="Calibri"/>
              <a:sym typeface="Calibri"/>
            </a:endParaRPr>
          </a:p>
        </p:txBody>
      </p:sp>
      <p:sp>
        <p:nvSpPr>
          <p:cNvPr id="325" name="Google Shape;325;p14"/>
          <p:cNvSpPr/>
          <p:nvPr/>
        </p:nvSpPr>
        <p:spPr>
          <a:xfrm>
            <a:off x="3246120" y="1051560"/>
            <a:ext cx="2834640" cy="3520440"/>
          </a:xfrm>
          <a:prstGeom prst="rect">
            <a:avLst/>
          </a:prstGeom>
          <a:solidFill>
            <a:srgbClr val="1E2340"/>
          </a:solidFill>
          <a:ln cap="flat" cmpd="sng" w="15225">
            <a:solidFill>
              <a:srgbClr val="6C63FF"/>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
          <p:cNvSpPr/>
          <p:nvPr/>
        </p:nvSpPr>
        <p:spPr>
          <a:xfrm>
            <a:off x="3246120" y="1051560"/>
            <a:ext cx="2834640" cy="329184"/>
          </a:xfrm>
          <a:prstGeom prst="rect">
            <a:avLst/>
          </a:prstGeom>
          <a:solidFill>
            <a:srgbClr val="6C63FF"/>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335584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Initial Reflection</a:t>
            </a:r>
            <a:endParaRPr b="0" i="0" sz="1100" u="none" cap="none" strike="noStrike">
              <a:solidFill>
                <a:schemeClr val="dk1"/>
              </a:solidFill>
              <a:latin typeface="Calibri"/>
              <a:ea typeface="Calibri"/>
              <a:cs typeface="Calibri"/>
              <a:sym typeface="Calibri"/>
            </a:endParaRPr>
          </a:p>
        </p:txBody>
      </p:sp>
      <p:sp>
        <p:nvSpPr>
          <p:cNvPr id="328" name="Google Shape;328;p14"/>
          <p:cNvSpPr/>
          <p:nvPr/>
        </p:nvSpPr>
        <p:spPr>
          <a:xfrm>
            <a:off x="3383280" y="1463040"/>
            <a:ext cx="2560320" cy="2926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I changed extend to append for all_preds and now I get an error when computing accuracy_score. I think the problem is that the predictions tensor is in the wrong format, maybe I need to convert it to a list or numpy array before passing it to accuracy_score, because scikit-learn might not accept PyTorch tensors directly.</a:t>
            </a:r>
            <a:endParaRPr b="0" i="0" sz="1100" u="none" cap="none" strike="noStrike">
              <a:solidFill>
                <a:schemeClr val="dk1"/>
              </a:solidFill>
              <a:latin typeface="Calibri"/>
              <a:ea typeface="Calibri"/>
              <a:cs typeface="Calibri"/>
              <a:sym typeface="Calibri"/>
            </a:endParaRPr>
          </a:p>
        </p:txBody>
      </p:sp>
      <p:sp>
        <p:nvSpPr>
          <p:cNvPr id="329" name="Google Shape;329;p14"/>
          <p:cNvSpPr/>
          <p:nvPr/>
        </p:nvSpPr>
        <p:spPr>
          <a:xfrm>
            <a:off x="6263640" y="1051560"/>
            <a:ext cx="2834640" cy="3520440"/>
          </a:xfrm>
          <a:prstGeom prst="rect">
            <a:avLst/>
          </a:prstGeom>
          <a:solidFill>
            <a:srgbClr val="1E2340"/>
          </a:solidFill>
          <a:ln cap="flat" cmpd="sng" w="15225">
            <a:solidFill>
              <a:srgbClr val="00C9A7"/>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4"/>
          <p:cNvSpPr/>
          <p:nvPr/>
        </p:nvSpPr>
        <p:spPr>
          <a:xfrm>
            <a:off x="6263640" y="1051560"/>
            <a:ext cx="2834640" cy="32918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4"/>
          <p:cNvSpPr/>
          <p:nvPr/>
        </p:nvSpPr>
        <p:spPr>
          <a:xfrm>
            <a:off x="6373368" y="1051560"/>
            <a:ext cx="26151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340"/>
              </a:buClr>
              <a:buSzPts val="1100"/>
              <a:buFont typeface="Calibri"/>
              <a:buNone/>
            </a:pPr>
            <a:r>
              <a:rPr b="1" i="0" lang="en-US" sz="1100" u="none" cap="none" strike="noStrike">
                <a:solidFill>
                  <a:srgbClr val="1E2340"/>
                </a:solidFill>
                <a:latin typeface="Calibri"/>
                <a:ea typeface="Calibri"/>
                <a:cs typeface="Calibri"/>
                <a:sym typeface="Calibri"/>
              </a:rPr>
              <a:t>🤖  GenAI Guidance</a:t>
            </a:r>
            <a:endParaRPr b="0" i="0" sz="1100" u="none" cap="none" strike="noStrike">
              <a:solidFill>
                <a:schemeClr val="dk1"/>
              </a:solidFill>
              <a:latin typeface="Calibri"/>
              <a:ea typeface="Calibri"/>
              <a:cs typeface="Calibri"/>
              <a:sym typeface="Calibri"/>
            </a:endParaRPr>
          </a:p>
        </p:txBody>
      </p:sp>
      <p:sp>
        <p:nvSpPr>
          <p:cNvPr id="332" name="Google Shape;332;p14"/>
          <p:cNvSpPr/>
          <p:nvPr/>
        </p:nvSpPr>
        <p:spPr>
          <a:xfrm>
            <a:off x="6400800" y="1463040"/>
            <a:ext cx="2560320" cy="2926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A8"/>
              </a:buClr>
              <a:buSzPts val="1100"/>
              <a:buFont typeface="Calibri"/>
              <a:buNone/>
            </a:pPr>
            <a:r>
              <a:rPr i="1" lang="en-US" sz="1100">
                <a:solidFill>
                  <a:srgbClr val="8888A8"/>
                </a:solidFill>
                <a:latin typeface="Calibri"/>
                <a:ea typeface="Calibri"/>
                <a:cs typeface="Calibri"/>
                <a:sym typeface="Calibri"/>
              </a:rPr>
              <a:t>Mentally: after 10 batches of 4 predictions, extend builds a flat list of 40 scalars, while append builds a list of 10 tensors. accuracy_score expects a flat list of individual labels — not a nested list of batches. The bug isn't about tensor format, it's about structure: append preserves batch boundaries that should have been dissolved</a:t>
            </a:r>
            <a:endParaRPr b="0" i="0" sz="1100" u="none" cap="none" strike="noStrike">
              <a:solidFill>
                <a:schemeClr val="dk1"/>
              </a:solidFill>
              <a:latin typeface="Calibri"/>
              <a:ea typeface="Calibri"/>
              <a:cs typeface="Calibri"/>
              <a:sym typeface="Calibri"/>
            </a:endParaRPr>
          </a:p>
        </p:txBody>
      </p:sp>
      <p:sp>
        <p:nvSpPr>
          <p:cNvPr id="333" name="Google Shape;333;p14"/>
          <p:cNvSpPr txBox="1"/>
          <p:nvPr/>
        </p:nvSpPr>
        <p:spPr>
          <a:xfrm>
            <a:off x="169675" y="4616650"/>
            <a:ext cx="8920800" cy="428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rgbClr val="00C9A7"/>
              </a:buClr>
              <a:buSzPts val="1000"/>
              <a:buFont typeface="Calibri"/>
              <a:buNone/>
            </a:pPr>
            <a:r>
              <a:rPr i="1" lang="en-US" sz="900">
                <a:solidFill>
                  <a:srgbClr val="00C9A7"/>
                </a:solidFill>
                <a:latin typeface="Calibri"/>
                <a:ea typeface="Calibri"/>
                <a:cs typeface="Calibri"/>
                <a:sym typeface="Calibri"/>
              </a:rPr>
              <a:t>✏️ </a:t>
            </a:r>
            <a:r>
              <a:rPr i="1" lang="en-US" sz="1100">
                <a:solidFill>
                  <a:srgbClr val="8888A8"/>
                </a:solidFill>
                <a:latin typeface="Calibri"/>
                <a:ea typeface="Calibri"/>
                <a:cs typeface="Calibri"/>
                <a:sym typeface="Calibri"/>
              </a:rPr>
              <a:t> extend adds each scalar individually, giving a flat list of 40 predictions. append adds the whole batch as one element, giving a nested list of tensors. accuracy_score expects flat — so append creates a shape mismatch with all_labels, which is still flat. Fix: use extend for both."</a:t>
            </a:r>
            <a:endParaRPr i="1" sz="1100">
              <a:solidFill>
                <a:srgbClr val="8888A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7"/>
        </a:solidFill>
      </p:bgPr>
    </p:bg>
    <p:spTree>
      <p:nvGrpSpPr>
        <p:cNvPr id="338" name="Shape 338"/>
        <p:cNvGrpSpPr/>
        <p:nvPr/>
      </p:nvGrpSpPr>
      <p:grpSpPr>
        <a:xfrm>
          <a:off x="0" y="0"/>
          <a:ext cx="0" cy="0"/>
          <a:chOff x="0" y="0"/>
          <a:chExt cx="0" cy="0"/>
        </a:xfrm>
      </p:grpSpPr>
      <p:sp>
        <p:nvSpPr>
          <p:cNvPr id="339" name="Google Shape;339;p15"/>
          <p:cNvSpPr/>
          <p:nvPr/>
        </p:nvSpPr>
        <p:spPr>
          <a:xfrm>
            <a:off x="-914400" y="-914400"/>
            <a:ext cx="4572000" cy="4572000"/>
          </a:xfrm>
          <a:prstGeom prst="ellipse">
            <a:avLst/>
          </a:prstGeom>
          <a:solidFill>
            <a:srgbClr val="6C63FF">
              <a:alpha val="14901"/>
            </a:srgbClr>
          </a:solidFill>
          <a:ln cap="flat" cmpd="sng" w="12700">
            <a:solidFill>
              <a:srgbClr val="6C6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6400800" y="2286000"/>
            <a:ext cx="3657600" cy="3657600"/>
          </a:xfrm>
          <a:prstGeom prst="ellipse">
            <a:avLst/>
          </a:prstGeom>
          <a:solidFill>
            <a:srgbClr val="00C9A7">
              <a:alpha val="14901"/>
            </a:srgbClr>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914400" y="1280160"/>
            <a:ext cx="731520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Thank You</a:t>
            </a:r>
            <a:endParaRPr b="0" i="0" sz="5200" u="none" cap="none" strike="noStrike">
              <a:solidFill>
                <a:schemeClr val="dk1"/>
              </a:solidFill>
              <a:latin typeface="Calibri"/>
              <a:ea typeface="Calibri"/>
              <a:cs typeface="Calibri"/>
              <a:sym typeface="Calibri"/>
            </a:endParaRPr>
          </a:p>
        </p:txBody>
      </p:sp>
      <p:sp>
        <p:nvSpPr>
          <p:cNvPr id="342" name="Google Shape;342;p15"/>
          <p:cNvSpPr/>
          <p:nvPr/>
        </p:nvSpPr>
        <p:spPr>
          <a:xfrm>
            <a:off x="914400" y="2514600"/>
            <a:ext cx="7315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9A7"/>
              </a:buClr>
              <a:buSzPts val="2000"/>
              <a:buFont typeface="Calibri"/>
              <a:buNone/>
            </a:pPr>
            <a:r>
              <a:rPr b="0" i="0" lang="en-US" sz="2000" u="none" cap="none" strike="noStrike">
                <a:solidFill>
                  <a:srgbClr val="00C9A7"/>
                </a:solidFill>
                <a:latin typeface="Calibri"/>
                <a:ea typeface="Calibri"/>
                <a:cs typeface="Calibri"/>
                <a:sym typeface="Calibri"/>
              </a:rPr>
              <a:t>Questions &amp; Discussion</a:t>
            </a:r>
            <a:endParaRPr b="0" i="0" sz="2000" u="none" cap="none" strike="noStrike">
              <a:solidFill>
                <a:schemeClr val="dk1"/>
              </a:solidFill>
              <a:latin typeface="Calibri"/>
              <a:ea typeface="Calibri"/>
              <a:cs typeface="Calibri"/>
              <a:sym typeface="Calibri"/>
            </a:endParaRPr>
          </a:p>
        </p:txBody>
      </p:sp>
      <p:cxnSp>
        <p:nvCxnSpPr>
          <p:cNvPr id="343" name="Google Shape;343;p15"/>
          <p:cNvCxnSpPr/>
          <p:nvPr/>
        </p:nvCxnSpPr>
        <p:spPr>
          <a:xfrm>
            <a:off x="2286000" y="3154680"/>
            <a:ext cx="4572000" cy="0"/>
          </a:xfrm>
          <a:prstGeom prst="straightConnector1">
            <a:avLst/>
          </a:prstGeom>
          <a:noFill/>
          <a:ln cap="flat" cmpd="sng" w="10150">
            <a:solidFill>
              <a:srgbClr val="8888A8"/>
            </a:solidFill>
            <a:prstDash val="solid"/>
            <a:round/>
            <a:headEnd len="sm" w="sm" type="none"/>
            <a:tailEnd len="sm" w="sm" type="none"/>
          </a:ln>
        </p:spPr>
      </p:cxnSp>
      <p:sp>
        <p:nvSpPr>
          <p:cNvPr id="344" name="Google Shape;344;p15"/>
          <p:cNvSpPr/>
          <p:nvPr/>
        </p:nvSpPr>
        <p:spPr>
          <a:xfrm>
            <a:off x="914400" y="3337560"/>
            <a:ext cx="7315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88A8"/>
              </a:buClr>
              <a:buSzPts val="1200"/>
              <a:buFont typeface="Calibri"/>
              <a:buNone/>
            </a:pPr>
            <a:r>
              <a:rPr b="0" i="0" lang="en-US" sz="1200" u="none" cap="none" strike="noStrike">
                <a:solidFill>
                  <a:srgbClr val="8888A8"/>
                </a:solidFill>
                <a:latin typeface="Calibri"/>
                <a:ea typeface="Calibri"/>
                <a:cs typeface="Calibri"/>
                <a:sym typeface="Calibri"/>
              </a:rPr>
              <a:t>AI-100  ·  Jake Willingham  ·  Rymer Popovich  ·  Noah</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